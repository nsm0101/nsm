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310" r:id="rId44"/>
    <p:sldId id="311" r:id="rId45"/>
    <p:sldId id="312" r:id="rId46"/>
    <p:sldId id="313" r:id="rId47"/>
    <p:sldId id="314" r:id="rId48"/>
    <p:sldId id="315" r:id="rId49"/>
    <p:sldId id="316" r:id="rId50"/>
    <p:sldId id="317" r:id="rId51"/>
    <p:sldId id="318" r:id="rId52"/>
    <p:sldId id="319" r:id="rId53"/>
    <p:sldId id="320" r:id="rId54"/>
    <p:sldId id="321" r:id="rId55"/>
    <p:sldId id="322" r:id="rId56"/>
    <p:sldId id="323" r:id="rId57"/>
    <p:sldId id="324" r:id="rId58"/>
    <p:sldId id="325" r:id="rId59"/>
    <p:sldId id="326" r:id="rId60"/>
    <p:sldId id="327" r:id="rId61"/>
    <p:sldId id="328" r:id="rId62"/>
    <p:sldId id="329" r:id="rId63"/>
    <p:sldId id="330" r:id="rId64"/>
    <p:sldId id="331" r:id="rId65"/>
    <p:sldId id="332" r:id="rId66"/>
    <p:sldId id="333" r:id="rId67"/>
    <p:sldId id="334" r:id="rId68"/>
    <p:sldId id="335" r:id="rId69"/>
    <p:sldId id="336" r:id="rId70"/>
    <p:sldId id="337" r:id="rId71"/>
    <p:sldId id="338" r:id="rId72"/>
    <p:sldId id="339" r:id="rId73"/>
    <p:sldId id="340" r:id="rId74"/>
    <p:sldId id="341" r:id="rId75"/>
    <p:sldId id="342" r:id="rId76"/>
    <p:sldId id="343" r:id="rId77"/>
    <p:sldId id="344" r:id="rId78"/>
    <p:sldId id="345" r:id="rId79"/>
    <p:sldId id="346" r:id="rId80"/>
    <p:sldId id="347" r:id="rId81"/>
    <p:sldId id="348" r:id="rId82"/>
    <p:sldId id="349" r:id="rId83"/>
    <p:sldId id="350" r:id="rId84"/>
    <p:sldId id="351" r:id="rId85"/>
    <p:sldId id="352" r:id="rId86"/>
    <p:sldId id="353" r:id="rId87"/>
    <p:sldId id="354" r:id="rId88"/>
    <p:sldId id="355" r:id="rId89"/>
    <p:sldId id="356" r:id="rId90"/>
    <p:sldId id="357" r:id="rId91"/>
    <p:sldId id="358" r:id="rId92"/>
    <p:sldId id="359" r:id="rId93"/>
    <p:sldId id="360" r:id="rId94"/>
    <p:sldId id="361" r:id="rId95"/>
    <p:sldId id="362" r:id="rId96"/>
    <p:sldId id="363" r:id="rId97"/>
    <p:sldId id="364" r:id="rId98"/>
    <p:sldId id="365" r:id="rId99"/>
    <p:sldId id="366" r:id="rId100"/>
    <p:sldId id="367" r:id="rId101"/>
    <p:sldId id="368" r:id="rId102"/>
    <p:sldId id="369" r:id="rId103"/>
    <p:sldId id="370" r:id="rId104"/>
    <p:sldId id="371" r:id="rId105"/>
    <p:sldId id="372" r:id="rId106"/>
    <p:sldId id="373" r:id="rId107"/>
    <p:sldId id="374" r:id="rId108"/>
    <p:sldId id="375" r:id="rId109"/>
    <p:sldId id="376" r:id="rId110"/>
    <p:sldId id="377" r:id="rId111"/>
    <p:sldId id="378" r:id="rId112"/>
    <p:sldId id="379" r:id="rId113"/>
    <p:sldId id="380" r:id="rId114"/>
    <p:sldId id="381" r:id="rId115"/>
    <p:sldId id="382" r:id="rId116"/>
    <p:sldId id="383" r:id="rId117"/>
    <p:sldId id="384" r:id="rId118"/>
    <p:sldId id="385" r:id="rId119"/>
    <p:sldId id="386" r:id="rId1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047"/>
    <p:restoredTop sz="54394"/>
  </p:normalViewPr>
  <p:slideViewPr>
    <p:cSldViewPr snapToGrid="0">
      <p:cViewPr varScale="1">
        <p:scale>
          <a:sx n="54" d="100"/>
          <a:sy n="54" d="100"/>
        </p:scale>
        <p:origin x="224" y="520"/>
      </p:cViewPr>
      <p:guideLst/>
    </p:cSldViewPr>
  </p:slideViewPr>
  <p:notesTextViewPr>
    <p:cViewPr>
      <p:scale>
        <a:sx n="145" d="100"/>
        <a:sy n="14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5BE094-AAE3-D04A-8225-DFE6746FCEDA}" type="datetimeFigureOut">
              <a:rPr lang="en-US" smtClean="0"/>
              <a:t>6/8/26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B3773A-C6E6-2249-A0AB-113EC71D76EF}" type="slidenum">
              <a:rPr lang="en-US" smtClean="0"/>
              <a:t>‹#›</a:t>
            </a:fld>
            <a:endParaRPr lang="en-US"/>
          </a:p>
        </p:txBody>
      </p:sp>
    </p:spTree>
    <p:extLst>
      <p:ext uri="{BB962C8B-B14F-4D97-AF65-F5344CB8AC3E}">
        <p14:creationId xmlns:p14="http://schemas.microsoft.com/office/powerpoint/2010/main" val="3677443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intro: These additional modules extend the Pass The Pointer curriculum to five high-yield pediatric POCUS applications. Each follows the same flow: case, indications, probe set-up, scanning technique, normal anatomy, pathology, and pearls/pitfalls. A blank slide follows every teaching slide so you can drop in your own clinical clips, and representative normal-vs-pathology images are embedded for reference.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divider. SBO in children: adhesions (prior surgery), incarcerated hernia, malrotation/volvulus, intussusception, atresia in neonates. POCUS is fast, repeatable and radiation-free at the bedside.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Classic obstructive picture: bilious emesis, distension, obstipation. In a child with prior surgery, adhesive SBO is the leading cause. Always keep malrotation with midgut volvulus on the differential in the vomiting infant – that is a surgical emergency. POCUS lets you look while you resuscitate (IVF, NG decompression, surgical consult).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POCUS for SBO is best thought of as a rule-IN/rule-out adjunct, not a replacement for surgical evaluation or CT when the cause must be defined. Adult literature shows POCUS sensitivity ~90% and specificity ~85% for SBO – superior to plain radiographs; pediatric data are growing and favorable. Use it to triage who needs urgent imaging/surgery.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Curvilinear gives the depth and field of view needed to survey the whole abdomen; switch to linear in small or thin children to resolve the bowel wall and plicae. Graded compression slowly pushes overlying gas out of the way. The single most common error is an incomplete survey – be systematic, quadrant by quadrant.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methodical. Dilation is measured outer wall to outer wall. Watch for at least 5–10 seconds per region to judge peristalsis. Try to find a transition point – dilated loops proximal, collapsed loops distal. Free fluid (especially complex/echogenic) between dilated loops raises concern for ischemia/strangulation and should prompt urgent surgical involvement.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Normal small bowel: non-dilated (&lt;2.5 cm), thin wall (&lt;3 mm) with preserved ‘gut signature’ (alternating echogenic/hypoechoic mucosa-submucosa-muscularis layers), and active to-and-fro peristalsis that moves contents forward. Collapsed loops and intraluminal gas (dirty shadowing) are normal. No free fluid. Use this baseline mentally to recognize the dilated, fluid-filled, akinetic loops of obstruction.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Findings of SBO on POCUS:</a:t>
            </a:r>
          </a:p>
          <a:p>
            <a:r>
              <a:t>• Dilated fluid-filled loops &gt; 2.5 cm (small bowel; &gt; 3 cm large bowel)</a:t>
            </a:r>
          </a:p>
          <a:p>
            <a:r>
              <a:t>• “Keyboard / piano-key sign” – plicae circulares (valvulae conniventes) projecting into the fluid-filled lumen, as in this image</a:t>
            </a:r>
          </a:p>
          <a:p>
            <a:r>
              <a:t>• To-and-fro or back-and-forth peristalsis early (contents sloshing against the obstruction); akinetic loops later – a worrisome sign</a:t>
            </a:r>
          </a:p>
          <a:p>
            <a:r>
              <a:t>• Transition point between dilated and collapsed bowel</a:t>
            </a:r>
          </a:p>
          <a:p>
            <a:r>
              <a:t>• Free interloop fluid (“tanga/triangle sign”) – concern for ischemia</a:t>
            </a:r>
          </a:p>
          <a:p>
            <a:r>
              <a:t>The more dilated and akinetic the bowel, and the more complex the free fluid, the higher the concern for strangulation.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Bottom line: dilated, fluid-filled loops with abnormal peristalsis = obstruction until proven otherwise. POCUS is excellent for rapid rule-in and serial follow-up but is operator dependent and cannot reliably identify the cause or transition anatomy the way CT can. Never let a ‘negative’ bedside scan override a convincing clinical picture, and escalate immediately for any infant with bilious vomiting (rule out midgut volvulus).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divider. Ileocolic intussusception is the most common abdominal emergency in children 3 months–3 years. POCUS is now considered the first-line imaging test and, in trained hands, is highly accurate.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classic triad (intermittent pain, palpable mass, currant-jelly stool) is present in a MINORITY of cases. Lethargy alone can be the presenting feature – intussusception is on the differential for the altered/lethargic infant. Peak age 3 months–3 years; most are ileocolic and idiopathic (hypertrophied Peyer patches as lead point, often post-viral).</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POCUS by trained emergency clinicians has reported sensitivity ~85–100% and specificity ~88–100% for ileocolic intussusception, comparable to radiology-performed ultrasound. A positive scan expedites the air/contrast enema (or surgery); a high-quality negative scan that surveys the colon makes it very unlikely.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 the frame of the colon. Because the ileocolic junction telescopes through the ascending and transverse colon, the target is most often found in the right upper quadrant beneath the liver. Use graded compression and patience. A linear probe gives the resolution to count the concentric rings and to assess the wall and any trapped fluid.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concentric ‘target’ must be confirmed in two planes – in long axis it becomes the pseudokidney. Apply color Doppler: preserved flow is reassuring, absent flow suggests ischemia. Note the diameter, presence of trapped fluid, enlarged lymph nodes, and any pathologic lead point (Meckel, polyp, duplication cyst, HSP, lymphoma) which is more likely in children outside the typical age range.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Transverse plane = the “target,” “doughnut,” or “bull’s-eye” sign: concentric alternating hypo-/hyperechoic rings from the intussusceptum invaginated within the intussuscipiens. An overall diameter &gt; 2.5 cm and a thick outer rim favor true ileocolic intussusception requiring reduction. Look for a hyperechoic “crescent-in-doughnut” (dragged-in mesentery ± nodes). Beware the smaller (&lt;2 cm), transient small-bowel–small-bowel intussusception, which is usually self-limited.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Longitudinal plane = the “pseudokidney” (or “hayfork/sandwich”) sign: the hypoechoic edematous bowel wall layers mimic renal cortex while the central echogenic mesentery mimics the renal sinus. Confirming both the transverse target and longitudinal pseudokidney clinches the diagnosis. Findings that predict difficult reduction / ischemia: trapped fluid within the intussusception, absent color Doppler flow, enlarged nodes, and a discrete lead point.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Take-home: a target &gt; 2.5 cm in the RUQ confirmed as a pseudokidney in long axis is intussusception until proven otherwise – mobilize surgery and radiology for enema reduction. Don’t over-call tiny, transient small-bowel intussusceptions. POCUS is a confirmatory/triage tool; institutional pathways still involve pediatric radiology and surgery for definitive reduction.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divider. POCUS for long-bone fractures is fast and accurate, spares radiation, can be done at triage or in austere/prehospital settings, and guides ultrasound-guided regional anesthesia (e.g., femoral nerve / fascia iliaca block) and hematoma blocks.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Refusal to bear weight + focal tenderness is a fracture until proven otherwise. The femur is the most commonly fractured long bone requiring admission in young children. ALWAYS keep non-accidental trauma in mind – a femur fracture in a non-ambulatory infant, or any history that doesn’t fit, warrants a child-protection evaluation.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POCUS is highly accurate for diaphyseal long-bone fractures (pooled sensitivity and specificity commonly in the high-80s to mid-90s %). Beyond diagnosis, its biggest value-add in peds is pain control: ultrasound-guided fascia iliaca / femoral nerve blocks for femur fractures markedly reduce opioid need. It can also confirm adequate reduction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cortex is a bright (hyperechoic) line with dense posterior acoustic shadowing. Slide along the entire bone in long axis, then rotate 90°. The contralateral limb is your built-in normal reference – invaluable in children where open growth plates and ossification centers can mimic or hide fractures. Press gently: it hurts, and pressure can worsen displacement.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findings clinch it: (1) a disruption/step-off in the otherwise smooth cortical line, and (2) an overlying hypoechoic periosteal/subperiosteal hematoma. In young children, look specifically for buckle (torus) fractures – a subtle cortical bulge rather than a clean break. Reverberation artifact changes and a fracture that ‘moves’ with gentle dynamic pressure or crepitus also support the diagnosis.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Schematic comparison. NORMAL: the cortex is a smooth, uninterrupted, bright hyperechoic line with clean posterior shadowing. FRACTURE: an abrupt step-off / discontinuity of that line, frequently with an overlying hypoechoic periosteal hematoma lifting the periosteum. Always anchor your read against the contralateral side, especially around physes and ossification centers.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Bottom line: a cortical step-off with an overlying hematoma, confirmed in two planes and compared to the normal side, reliably identifies a long-bone fracture and lets you start a nerve block early. But POCUS does not characterize intra-articular extension, comminution, or Salter-Harris grade – obtain radiographs for definitive classification and orthopedic management, and keep NAT on the differential.</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divider. Lung ultrasound detects pneumothorax with higher sensitivity than supine chest X-ray and is a core component of the E-FAST. The principle: pleural air abolishes the normal sliding of visceral on parietal pleura.</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classic presentations: traumatic (part of E-FAST) and primary spontaneous pneumothorax in a tall, thin adolescent. Always think iatrogenic PTX after central lines, thoracentesis, or lung biopsy. In tension physiology (hypotension, distended neck veins, tracheal deviation) treat clinically – don’t wait for imaging.</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pneumothorax, POCUS sensitivity is roughly 90% versus ~50% for supine chest X-ray, with high specificity, and it is faster than waiting for a film. It is most useful when the question is binary – is there pleural sliding at this spot or not – and as a rapid serial tool after procedures.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supine patient, pleural air collects anteriorly – so start there (2nd–4th interspace, midclavicular line). The ‘bat sign’ (two rib shadows = wings, bright pleural line = body) confirms you are imaging the pleura. Identify the pleural line, assess sliding in 2D, then drop an M-mode cursor through it. Scan multiple anterior–lateral zones to map the extent.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Logic: anything that requires the two pleural layers to be touching – sliding, B-lines, lung pulse – RULES OUT pneumothorax at that interspace (high negative predictive value). Their ABSENCE is sensitive but NOT specific (mainstem intubation, apnea, blebs, pleural adhesions, ARDS all reduce sliding). The lung point, where normally-sliding lung meets the pneumothorax, is ~100% specific and also estimates size, but it is absent in a large/complete pneumothorax.</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Normal lung. 2D (top): bright pleural line with horizontal A-line reverberation artifacts and shimmering lung sliding. M-mode (bottom): the ‘seashore sign’ – motionless chest wall above (parallel ‘waves/ocean’) gives way to the granular ‘sandy beach’ below the pleural line, because moving lung scatters the signal. Seashore present = no pneumothorax at that spot. A-lines alone are NOT diagnostic of PTX – they are normal; you must assess sliding.</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Pneumothorax. With pleural air, the lung no longer slides, so M-mode shows only straight horizontal lines all the way down – the ‘barcode’ or ‘stratosphere’ sign – instead of the granular beach. In 2D, sliding is absent and there are no B-lines or lung pulse. Remember: absent sliding is sensitive but not specific. To CONFIRM, find the lung point (the exact spot where sliding reappears) – it is virtually 100% specific for pneumothorax and marks the edge of the collapse.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contrast: B-lines are vertical, hyperechoic, laser-like artifacts that arise from the pleural line, extend to the bottom of the screen, move with sliding, and erase A-lines. Because they require the visceral and parietal pleura to be in contact, even a single B-line EXCLUDES pneumothorax at that interspace. (B-lines themselves indicate interstitial fluid – e.g., pneumonia, edema, ARDS – and are covered in the lung module.) Use this to reinforce why ‘B-lines present = no PTX here.’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Bottom line: presence of sliding/B-lines/lung pulse reliably rules out PTX at that window; a lung point rules it in. Confirm absent sliding isn’t from a mimicker (check a contralateral side, confirm ETT position). A complete pneumothorax has no lung point, so don’t require one to act. And never delay needle/finger decompression for a clinically obvious tension pneumothorax.</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divider. Constipation causes up to ~25% of pediatric abdominal-pain visits. Measuring the transrectal diameter (TRD) on POCUS offers an objective, radiation-free, non-invasive alternative to the abdominal radiograph and the (rarely performed, uncomfortable) digital rectal exam. Based on Doniger SJ, Dessie A, Latronica C. Pediatr Emerg Care 2018;34:154–159.</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Constipation is a leading cause of pediatric abdominal pain (prevalence up to ~28%). History and physical exam are unreliable, the DRE is invasive and rarely performed (~&lt;5% of abdominal-pain visits), and clinicians often default to abdominal radiographs – which are themselves unreliable for constipation and add ionizing radiation. TRD on POCUS gives an objective number at the bedside.</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Doniger 2018 prospective cohort (ages 4–17, abdominal pain, ED) used the Rome III questionnaire as the criterion standard. An enlarged TRD strongly correlated with constipation, performed similarly to abdominal radiographs, and – had it been used – could have avoided ~88% of the radiographs obtained. TRD is a fast, objective adjunct, not a stand-alone diagnosis.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Technique per Klijn/Doniger: phased-array (or curvilinear) transducer placed transversely ~2 cm above the symphysis pubis, angled 15° downward, indicator to the patient’s right. The fluid-filled bladder is the acoustic window. Importantly, the TRD measurement is NOT affected by bladder fullness, age, height, or weight – so a full bladder is not required and is a common misconception.</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Center the bladder in transverse, then look just deep/posterior to it for the rectum – a hyperechoic crescent casting posterior acoustic shadowing (stool/gas). Measure across the rectum, outer wall to outer wall, in the AP dimension. Obtain two measurements and average. In the study a nonconstipated child measured ~1.76 cm; a constipated child measured ~8 cm – the difference is usually obvious.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Orientation image: transverse suprapubic view with the anechoic (black) bladder used as the acoustic window. The rectum sits immediately posterior (deep) to the bladder – that is where you measure the TRD. A NORMAL (nonconstipated) rectum has a TRD below the 3.8 cm threshold (study mean ~1.76 cm). Embed your own normal TRD measurement on the next slide for direct comparison.</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PATHOLOGY – the headline number. A TRD ≥ 3.8 cm correlates with constipation:</a:t>
            </a:r>
          </a:p>
          <a:p>
            <a:r>
              <a:t>• Sensitivity 86%, Specificity 71%</a:t>
            </a:r>
          </a:p>
          <a:p>
            <a:r>
              <a:t>• Negative predictive value 0.87, Positive predictive value 0.70</a:t>
            </a:r>
          </a:p>
          <a:p>
            <a:r>
              <a:t>The constipated rectum appears as a markedly dilated, stool-filled hyperechoic crescent posterior to the bladder, with prominent posterior shadowing. After a successful enema/disimpaction the TRD decreases (mean drop ~1.2 cm in the study). Because no clean, openly-licensed constipated-TRD ultrasound was available to embed, use the dashed slide that follows to insert a clip from your own archive or the Doniger 2018 paper.</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Bottom line: a TRD ≥ 3.8 cm is a quick, objective, radiation-free signal that supports constipation and can spare an abdominal radiograph and a rectal exam. Specificity is only moderate, so interpret alongside the history and exam, and never let it anchor you away from a serious cause of abdominal pain. Re-measuring after disimpaction can document treatment response.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in a still or cine clip from your own scans here.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embedded ultrasound images are openly licensed and used for non-commercial education with attribution. Replace or supplement with your own clinical clips as needed. Verify license terms before any redistribution.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513EB-F10D-CC36-7B9B-C7F7817B02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BA6239-6794-E19E-7E33-34E90557C1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56FEF0E-B80C-5BD3-B857-4CB9CE16BBA8}"/>
              </a:ext>
            </a:extLst>
          </p:cNvPr>
          <p:cNvSpPr>
            <a:spLocks noGrp="1"/>
          </p:cNvSpPr>
          <p:nvPr>
            <p:ph type="dt" sz="half" idx="10"/>
          </p:nvPr>
        </p:nvSpPr>
        <p:spPr/>
        <p:txBody>
          <a:bodyPr/>
          <a:lstStyle/>
          <a:p>
            <a:fld id="{DBA0AE30-C009-804B-95C4-F862B2BCE0A2}" type="datetimeFigureOut">
              <a:rPr lang="en-US" smtClean="0"/>
              <a:t>6/8/26</a:t>
            </a:fld>
            <a:endParaRPr lang="en-US"/>
          </a:p>
        </p:txBody>
      </p:sp>
      <p:sp>
        <p:nvSpPr>
          <p:cNvPr id="5" name="Footer Placeholder 4">
            <a:extLst>
              <a:ext uri="{FF2B5EF4-FFF2-40B4-BE49-F238E27FC236}">
                <a16:creationId xmlns:a16="http://schemas.microsoft.com/office/drawing/2014/main" id="{D4BF9749-F9DE-CEC3-5DA9-99ED5A25F9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7CD07A-7570-289C-FFD3-C2D28E51BF18}"/>
              </a:ext>
            </a:extLst>
          </p:cNvPr>
          <p:cNvSpPr>
            <a:spLocks noGrp="1"/>
          </p:cNvSpPr>
          <p:nvPr>
            <p:ph type="sldNum" sz="quarter" idx="12"/>
          </p:nvPr>
        </p:nvSpPr>
        <p:spPr/>
        <p:txBody>
          <a:bodyPr/>
          <a:lstStyle/>
          <a:p>
            <a:fld id="{BC9CA519-93F5-444E-A075-7F3A23EC9A2F}" type="slidenum">
              <a:rPr lang="en-US" smtClean="0"/>
              <a:t>‹#›</a:t>
            </a:fld>
            <a:endParaRPr lang="en-US"/>
          </a:p>
        </p:txBody>
      </p:sp>
    </p:spTree>
    <p:extLst>
      <p:ext uri="{BB962C8B-B14F-4D97-AF65-F5344CB8AC3E}">
        <p14:creationId xmlns:p14="http://schemas.microsoft.com/office/powerpoint/2010/main" val="3810986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69602-327A-A7CF-E746-CC1C94AE82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3676F9-77E7-02A6-552F-8F10D5EB9F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C05DDB-A53E-EAB1-2340-C569E9D5A8BD}"/>
              </a:ext>
            </a:extLst>
          </p:cNvPr>
          <p:cNvSpPr>
            <a:spLocks noGrp="1"/>
          </p:cNvSpPr>
          <p:nvPr>
            <p:ph type="dt" sz="half" idx="10"/>
          </p:nvPr>
        </p:nvSpPr>
        <p:spPr/>
        <p:txBody>
          <a:bodyPr/>
          <a:lstStyle/>
          <a:p>
            <a:fld id="{DBA0AE30-C009-804B-95C4-F862B2BCE0A2}" type="datetimeFigureOut">
              <a:rPr lang="en-US" smtClean="0"/>
              <a:t>6/8/26</a:t>
            </a:fld>
            <a:endParaRPr lang="en-US"/>
          </a:p>
        </p:txBody>
      </p:sp>
      <p:sp>
        <p:nvSpPr>
          <p:cNvPr id="5" name="Footer Placeholder 4">
            <a:extLst>
              <a:ext uri="{FF2B5EF4-FFF2-40B4-BE49-F238E27FC236}">
                <a16:creationId xmlns:a16="http://schemas.microsoft.com/office/drawing/2014/main" id="{0D121E45-3128-5A27-4ED5-06680B280E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ECA59B-1B6B-16FD-9F07-4C0C4C95DEA6}"/>
              </a:ext>
            </a:extLst>
          </p:cNvPr>
          <p:cNvSpPr>
            <a:spLocks noGrp="1"/>
          </p:cNvSpPr>
          <p:nvPr>
            <p:ph type="sldNum" sz="quarter" idx="12"/>
          </p:nvPr>
        </p:nvSpPr>
        <p:spPr/>
        <p:txBody>
          <a:bodyPr/>
          <a:lstStyle/>
          <a:p>
            <a:fld id="{BC9CA519-93F5-444E-A075-7F3A23EC9A2F}" type="slidenum">
              <a:rPr lang="en-US" smtClean="0"/>
              <a:t>‹#›</a:t>
            </a:fld>
            <a:endParaRPr lang="en-US"/>
          </a:p>
        </p:txBody>
      </p:sp>
    </p:spTree>
    <p:extLst>
      <p:ext uri="{BB962C8B-B14F-4D97-AF65-F5344CB8AC3E}">
        <p14:creationId xmlns:p14="http://schemas.microsoft.com/office/powerpoint/2010/main" val="4081309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B2F5A-0DD3-3057-D084-EEFB3E0D2A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FE289F5-E4C9-749A-6872-D502390DF0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0830D7-1B05-D588-3182-FEB91FD69DD6}"/>
              </a:ext>
            </a:extLst>
          </p:cNvPr>
          <p:cNvSpPr>
            <a:spLocks noGrp="1"/>
          </p:cNvSpPr>
          <p:nvPr>
            <p:ph type="dt" sz="half" idx="10"/>
          </p:nvPr>
        </p:nvSpPr>
        <p:spPr/>
        <p:txBody>
          <a:bodyPr/>
          <a:lstStyle/>
          <a:p>
            <a:fld id="{DBA0AE30-C009-804B-95C4-F862B2BCE0A2}" type="datetimeFigureOut">
              <a:rPr lang="en-US" smtClean="0"/>
              <a:t>6/8/26</a:t>
            </a:fld>
            <a:endParaRPr lang="en-US"/>
          </a:p>
        </p:txBody>
      </p:sp>
      <p:sp>
        <p:nvSpPr>
          <p:cNvPr id="5" name="Footer Placeholder 4">
            <a:extLst>
              <a:ext uri="{FF2B5EF4-FFF2-40B4-BE49-F238E27FC236}">
                <a16:creationId xmlns:a16="http://schemas.microsoft.com/office/drawing/2014/main" id="{29D837AB-C009-9E8E-6BDA-B52FC5053B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88994B-F1E1-43E2-EB60-C2303A18EAEE}"/>
              </a:ext>
            </a:extLst>
          </p:cNvPr>
          <p:cNvSpPr>
            <a:spLocks noGrp="1"/>
          </p:cNvSpPr>
          <p:nvPr>
            <p:ph type="sldNum" sz="quarter" idx="12"/>
          </p:nvPr>
        </p:nvSpPr>
        <p:spPr/>
        <p:txBody>
          <a:bodyPr/>
          <a:lstStyle/>
          <a:p>
            <a:fld id="{BC9CA519-93F5-444E-A075-7F3A23EC9A2F}" type="slidenum">
              <a:rPr lang="en-US" smtClean="0"/>
              <a:t>‹#›</a:t>
            </a:fld>
            <a:endParaRPr lang="en-US"/>
          </a:p>
        </p:txBody>
      </p:sp>
    </p:spTree>
    <p:extLst>
      <p:ext uri="{BB962C8B-B14F-4D97-AF65-F5344CB8AC3E}">
        <p14:creationId xmlns:p14="http://schemas.microsoft.com/office/powerpoint/2010/main" val="2888308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BF8C8-6371-0056-36B6-1484B5B37D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E19DD4-BD31-5F9C-B2C6-633C01240E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BAB094-61AD-0120-19BC-1E0744EA89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D42B7B4-6893-6C37-667C-90A8F1508A59}"/>
              </a:ext>
            </a:extLst>
          </p:cNvPr>
          <p:cNvSpPr>
            <a:spLocks noGrp="1"/>
          </p:cNvSpPr>
          <p:nvPr>
            <p:ph type="dt" sz="half" idx="10"/>
          </p:nvPr>
        </p:nvSpPr>
        <p:spPr/>
        <p:txBody>
          <a:bodyPr/>
          <a:lstStyle/>
          <a:p>
            <a:fld id="{DBA0AE30-C009-804B-95C4-F862B2BCE0A2}" type="datetimeFigureOut">
              <a:rPr lang="en-US" smtClean="0"/>
              <a:t>6/8/26</a:t>
            </a:fld>
            <a:endParaRPr lang="en-US"/>
          </a:p>
        </p:txBody>
      </p:sp>
      <p:sp>
        <p:nvSpPr>
          <p:cNvPr id="6" name="Footer Placeholder 5">
            <a:extLst>
              <a:ext uri="{FF2B5EF4-FFF2-40B4-BE49-F238E27FC236}">
                <a16:creationId xmlns:a16="http://schemas.microsoft.com/office/drawing/2014/main" id="{001E6483-C155-A00B-06C0-5EDDF8BBF0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D9A92B-EF3C-78C3-0218-FB134EFE434B}"/>
              </a:ext>
            </a:extLst>
          </p:cNvPr>
          <p:cNvSpPr>
            <a:spLocks noGrp="1"/>
          </p:cNvSpPr>
          <p:nvPr>
            <p:ph type="sldNum" sz="quarter" idx="12"/>
          </p:nvPr>
        </p:nvSpPr>
        <p:spPr/>
        <p:txBody>
          <a:bodyPr/>
          <a:lstStyle/>
          <a:p>
            <a:fld id="{BC9CA519-93F5-444E-A075-7F3A23EC9A2F}" type="slidenum">
              <a:rPr lang="en-US" smtClean="0"/>
              <a:t>‹#›</a:t>
            </a:fld>
            <a:endParaRPr lang="en-US"/>
          </a:p>
        </p:txBody>
      </p:sp>
    </p:spTree>
    <p:extLst>
      <p:ext uri="{BB962C8B-B14F-4D97-AF65-F5344CB8AC3E}">
        <p14:creationId xmlns:p14="http://schemas.microsoft.com/office/powerpoint/2010/main" val="3187491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CDE8F-87C0-9648-8903-1FCE410E2F3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903300A-8B4F-54EB-9448-31E50F4927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2463E4-FA1E-903B-3654-A1383A5FE7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BB3B033-3EEA-EC47-38E9-A05045933C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9FC3DC-4DD8-4ADD-55EC-378953BE92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AC8A64C-77DA-AEC1-E759-4AF7052564AE}"/>
              </a:ext>
            </a:extLst>
          </p:cNvPr>
          <p:cNvSpPr>
            <a:spLocks noGrp="1"/>
          </p:cNvSpPr>
          <p:nvPr>
            <p:ph type="dt" sz="half" idx="10"/>
          </p:nvPr>
        </p:nvSpPr>
        <p:spPr/>
        <p:txBody>
          <a:bodyPr/>
          <a:lstStyle/>
          <a:p>
            <a:fld id="{DBA0AE30-C009-804B-95C4-F862B2BCE0A2}" type="datetimeFigureOut">
              <a:rPr lang="en-US" smtClean="0"/>
              <a:t>6/8/26</a:t>
            </a:fld>
            <a:endParaRPr lang="en-US"/>
          </a:p>
        </p:txBody>
      </p:sp>
      <p:sp>
        <p:nvSpPr>
          <p:cNvPr id="8" name="Footer Placeholder 7">
            <a:extLst>
              <a:ext uri="{FF2B5EF4-FFF2-40B4-BE49-F238E27FC236}">
                <a16:creationId xmlns:a16="http://schemas.microsoft.com/office/drawing/2014/main" id="{4E252600-7887-296A-9B19-7909AE97A6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C1D8D1E-6ADE-E0C9-1D91-66D73065E35C}"/>
              </a:ext>
            </a:extLst>
          </p:cNvPr>
          <p:cNvSpPr>
            <a:spLocks noGrp="1"/>
          </p:cNvSpPr>
          <p:nvPr>
            <p:ph type="sldNum" sz="quarter" idx="12"/>
          </p:nvPr>
        </p:nvSpPr>
        <p:spPr/>
        <p:txBody>
          <a:bodyPr/>
          <a:lstStyle/>
          <a:p>
            <a:fld id="{BC9CA519-93F5-444E-A075-7F3A23EC9A2F}" type="slidenum">
              <a:rPr lang="en-US" smtClean="0"/>
              <a:t>‹#›</a:t>
            </a:fld>
            <a:endParaRPr lang="en-US"/>
          </a:p>
        </p:txBody>
      </p:sp>
    </p:spTree>
    <p:extLst>
      <p:ext uri="{BB962C8B-B14F-4D97-AF65-F5344CB8AC3E}">
        <p14:creationId xmlns:p14="http://schemas.microsoft.com/office/powerpoint/2010/main" val="2741508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50D26-C68F-33F5-24B6-53B62A16EB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2EF3F3-78DE-6A32-506E-F0CDEBC233B3}"/>
              </a:ext>
            </a:extLst>
          </p:cNvPr>
          <p:cNvSpPr>
            <a:spLocks noGrp="1"/>
          </p:cNvSpPr>
          <p:nvPr>
            <p:ph type="dt" sz="half" idx="10"/>
          </p:nvPr>
        </p:nvSpPr>
        <p:spPr/>
        <p:txBody>
          <a:bodyPr/>
          <a:lstStyle/>
          <a:p>
            <a:fld id="{DBA0AE30-C009-804B-95C4-F862B2BCE0A2}" type="datetimeFigureOut">
              <a:rPr lang="en-US" smtClean="0"/>
              <a:t>6/8/26</a:t>
            </a:fld>
            <a:endParaRPr lang="en-US"/>
          </a:p>
        </p:txBody>
      </p:sp>
      <p:sp>
        <p:nvSpPr>
          <p:cNvPr id="4" name="Footer Placeholder 3">
            <a:extLst>
              <a:ext uri="{FF2B5EF4-FFF2-40B4-BE49-F238E27FC236}">
                <a16:creationId xmlns:a16="http://schemas.microsoft.com/office/drawing/2014/main" id="{87241B99-3BE4-F41A-F328-82A975FA73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9814AB-BCC8-83CE-CE71-769E8BF79842}"/>
              </a:ext>
            </a:extLst>
          </p:cNvPr>
          <p:cNvSpPr>
            <a:spLocks noGrp="1"/>
          </p:cNvSpPr>
          <p:nvPr>
            <p:ph type="sldNum" sz="quarter" idx="12"/>
          </p:nvPr>
        </p:nvSpPr>
        <p:spPr/>
        <p:txBody>
          <a:bodyPr/>
          <a:lstStyle/>
          <a:p>
            <a:fld id="{BC9CA519-93F5-444E-A075-7F3A23EC9A2F}" type="slidenum">
              <a:rPr lang="en-US" smtClean="0"/>
              <a:t>‹#›</a:t>
            </a:fld>
            <a:endParaRPr lang="en-US"/>
          </a:p>
        </p:txBody>
      </p:sp>
    </p:spTree>
    <p:extLst>
      <p:ext uri="{BB962C8B-B14F-4D97-AF65-F5344CB8AC3E}">
        <p14:creationId xmlns:p14="http://schemas.microsoft.com/office/powerpoint/2010/main" val="3823641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9C0988-68E0-0FD2-CA15-72F68F0ADDBF}"/>
              </a:ext>
            </a:extLst>
          </p:cNvPr>
          <p:cNvSpPr>
            <a:spLocks noGrp="1"/>
          </p:cNvSpPr>
          <p:nvPr>
            <p:ph type="dt" sz="half" idx="10"/>
          </p:nvPr>
        </p:nvSpPr>
        <p:spPr/>
        <p:txBody>
          <a:bodyPr/>
          <a:lstStyle/>
          <a:p>
            <a:fld id="{DBA0AE30-C009-804B-95C4-F862B2BCE0A2}" type="datetimeFigureOut">
              <a:rPr lang="en-US" smtClean="0"/>
              <a:t>6/8/26</a:t>
            </a:fld>
            <a:endParaRPr lang="en-US"/>
          </a:p>
        </p:txBody>
      </p:sp>
      <p:sp>
        <p:nvSpPr>
          <p:cNvPr id="3" name="Footer Placeholder 2">
            <a:extLst>
              <a:ext uri="{FF2B5EF4-FFF2-40B4-BE49-F238E27FC236}">
                <a16:creationId xmlns:a16="http://schemas.microsoft.com/office/drawing/2014/main" id="{03626187-4461-755D-7159-2D13E12537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B86608-CDA6-163D-FCC0-C055B6FFF3F0}"/>
              </a:ext>
            </a:extLst>
          </p:cNvPr>
          <p:cNvSpPr>
            <a:spLocks noGrp="1"/>
          </p:cNvSpPr>
          <p:nvPr>
            <p:ph type="sldNum" sz="quarter" idx="12"/>
          </p:nvPr>
        </p:nvSpPr>
        <p:spPr/>
        <p:txBody>
          <a:bodyPr/>
          <a:lstStyle/>
          <a:p>
            <a:fld id="{BC9CA519-93F5-444E-A075-7F3A23EC9A2F}" type="slidenum">
              <a:rPr lang="en-US" smtClean="0"/>
              <a:t>‹#›</a:t>
            </a:fld>
            <a:endParaRPr lang="en-US"/>
          </a:p>
        </p:txBody>
      </p:sp>
    </p:spTree>
    <p:extLst>
      <p:ext uri="{BB962C8B-B14F-4D97-AF65-F5344CB8AC3E}">
        <p14:creationId xmlns:p14="http://schemas.microsoft.com/office/powerpoint/2010/main" val="1612493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282D1-B9F2-D50A-2472-E33C42FEAC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E0A7329-283A-0C4A-F4C3-C708C84046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84BA21-C959-BAFA-0FC0-C3B9FC2683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B74A37-7C79-1E2B-1B5A-9769BFD8D9C9}"/>
              </a:ext>
            </a:extLst>
          </p:cNvPr>
          <p:cNvSpPr>
            <a:spLocks noGrp="1"/>
          </p:cNvSpPr>
          <p:nvPr>
            <p:ph type="dt" sz="half" idx="10"/>
          </p:nvPr>
        </p:nvSpPr>
        <p:spPr/>
        <p:txBody>
          <a:bodyPr/>
          <a:lstStyle/>
          <a:p>
            <a:fld id="{DBA0AE30-C009-804B-95C4-F862B2BCE0A2}" type="datetimeFigureOut">
              <a:rPr lang="en-US" smtClean="0"/>
              <a:t>6/8/26</a:t>
            </a:fld>
            <a:endParaRPr lang="en-US"/>
          </a:p>
        </p:txBody>
      </p:sp>
      <p:sp>
        <p:nvSpPr>
          <p:cNvPr id="6" name="Footer Placeholder 5">
            <a:extLst>
              <a:ext uri="{FF2B5EF4-FFF2-40B4-BE49-F238E27FC236}">
                <a16:creationId xmlns:a16="http://schemas.microsoft.com/office/drawing/2014/main" id="{2D16AE9D-0CBE-55EE-3819-2068DE0489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B6A118-9324-127E-6E77-A1BCB7D19F0A}"/>
              </a:ext>
            </a:extLst>
          </p:cNvPr>
          <p:cNvSpPr>
            <a:spLocks noGrp="1"/>
          </p:cNvSpPr>
          <p:nvPr>
            <p:ph type="sldNum" sz="quarter" idx="12"/>
          </p:nvPr>
        </p:nvSpPr>
        <p:spPr/>
        <p:txBody>
          <a:bodyPr/>
          <a:lstStyle/>
          <a:p>
            <a:fld id="{BC9CA519-93F5-444E-A075-7F3A23EC9A2F}" type="slidenum">
              <a:rPr lang="en-US" smtClean="0"/>
              <a:t>‹#›</a:t>
            </a:fld>
            <a:endParaRPr lang="en-US"/>
          </a:p>
        </p:txBody>
      </p:sp>
    </p:spTree>
    <p:extLst>
      <p:ext uri="{BB962C8B-B14F-4D97-AF65-F5344CB8AC3E}">
        <p14:creationId xmlns:p14="http://schemas.microsoft.com/office/powerpoint/2010/main" val="1941128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09CFA-009C-AAA8-36D4-0EAA6F0370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315E1CC-112F-BB40-17FF-7E367ECF39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4E02D4-6741-CCFA-9615-D60F4C1F07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72E852-65D8-F4CA-DDB6-A76D93262FA1}"/>
              </a:ext>
            </a:extLst>
          </p:cNvPr>
          <p:cNvSpPr>
            <a:spLocks noGrp="1"/>
          </p:cNvSpPr>
          <p:nvPr>
            <p:ph type="dt" sz="half" idx="10"/>
          </p:nvPr>
        </p:nvSpPr>
        <p:spPr/>
        <p:txBody>
          <a:bodyPr/>
          <a:lstStyle/>
          <a:p>
            <a:fld id="{DBA0AE30-C009-804B-95C4-F862B2BCE0A2}" type="datetimeFigureOut">
              <a:rPr lang="en-US" smtClean="0"/>
              <a:t>6/8/26</a:t>
            </a:fld>
            <a:endParaRPr lang="en-US"/>
          </a:p>
        </p:txBody>
      </p:sp>
      <p:sp>
        <p:nvSpPr>
          <p:cNvPr id="6" name="Footer Placeholder 5">
            <a:extLst>
              <a:ext uri="{FF2B5EF4-FFF2-40B4-BE49-F238E27FC236}">
                <a16:creationId xmlns:a16="http://schemas.microsoft.com/office/drawing/2014/main" id="{786E923C-F91C-C10A-74B1-6B50A3E4B5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5AB829-9624-D255-171D-81394D3CFAC9}"/>
              </a:ext>
            </a:extLst>
          </p:cNvPr>
          <p:cNvSpPr>
            <a:spLocks noGrp="1"/>
          </p:cNvSpPr>
          <p:nvPr>
            <p:ph type="sldNum" sz="quarter" idx="12"/>
          </p:nvPr>
        </p:nvSpPr>
        <p:spPr/>
        <p:txBody>
          <a:bodyPr/>
          <a:lstStyle/>
          <a:p>
            <a:fld id="{BC9CA519-93F5-444E-A075-7F3A23EC9A2F}" type="slidenum">
              <a:rPr lang="en-US" smtClean="0"/>
              <a:t>‹#›</a:t>
            </a:fld>
            <a:endParaRPr lang="en-US"/>
          </a:p>
        </p:txBody>
      </p:sp>
    </p:spTree>
    <p:extLst>
      <p:ext uri="{BB962C8B-B14F-4D97-AF65-F5344CB8AC3E}">
        <p14:creationId xmlns:p14="http://schemas.microsoft.com/office/powerpoint/2010/main" val="3052012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BFD45-3247-B1DA-A860-44EA0F55FF1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FD6DE9-DEC9-1D6E-F4C5-E2A406F1E6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3E1920-B898-A817-DAD4-A1CCADD44CA4}"/>
              </a:ext>
            </a:extLst>
          </p:cNvPr>
          <p:cNvSpPr>
            <a:spLocks noGrp="1"/>
          </p:cNvSpPr>
          <p:nvPr>
            <p:ph type="dt" sz="half" idx="10"/>
          </p:nvPr>
        </p:nvSpPr>
        <p:spPr/>
        <p:txBody>
          <a:bodyPr/>
          <a:lstStyle/>
          <a:p>
            <a:fld id="{DBA0AE30-C009-804B-95C4-F862B2BCE0A2}" type="datetimeFigureOut">
              <a:rPr lang="en-US" smtClean="0"/>
              <a:t>6/8/26</a:t>
            </a:fld>
            <a:endParaRPr lang="en-US"/>
          </a:p>
        </p:txBody>
      </p:sp>
      <p:sp>
        <p:nvSpPr>
          <p:cNvPr id="5" name="Footer Placeholder 4">
            <a:extLst>
              <a:ext uri="{FF2B5EF4-FFF2-40B4-BE49-F238E27FC236}">
                <a16:creationId xmlns:a16="http://schemas.microsoft.com/office/drawing/2014/main" id="{FC908220-F02C-02EF-2BCA-C4537A794B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CBF3F6-110C-3C6C-B183-5FDD33B5A176}"/>
              </a:ext>
            </a:extLst>
          </p:cNvPr>
          <p:cNvSpPr>
            <a:spLocks noGrp="1"/>
          </p:cNvSpPr>
          <p:nvPr>
            <p:ph type="sldNum" sz="quarter" idx="12"/>
          </p:nvPr>
        </p:nvSpPr>
        <p:spPr/>
        <p:txBody>
          <a:bodyPr/>
          <a:lstStyle/>
          <a:p>
            <a:fld id="{BC9CA519-93F5-444E-A075-7F3A23EC9A2F}" type="slidenum">
              <a:rPr lang="en-US" smtClean="0"/>
              <a:t>‹#›</a:t>
            </a:fld>
            <a:endParaRPr lang="en-US"/>
          </a:p>
        </p:txBody>
      </p:sp>
    </p:spTree>
    <p:extLst>
      <p:ext uri="{BB962C8B-B14F-4D97-AF65-F5344CB8AC3E}">
        <p14:creationId xmlns:p14="http://schemas.microsoft.com/office/powerpoint/2010/main" val="1575296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0E9A41-16E1-06E6-AAC1-9D678DD7951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32DF008-783E-8423-8D0E-665AD6802D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B008D3-9E9E-7170-C98F-FAB871038719}"/>
              </a:ext>
            </a:extLst>
          </p:cNvPr>
          <p:cNvSpPr>
            <a:spLocks noGrp="1"/>
          </p:cNvSpPr>
          <p:nvPr>
            <p:ph type="dt" sz="half" idx="10"/>
          </p:nvPr>
        </p:nvSpPr>
        <p:spPr/>
        <p:txBody>
          <a:bodyPr/>
          <a:lstStyle/>
          <a:p>
            <a:fld id="{DBA0AE30-C009-804B-95C4-F862B2BCE0A2}" type="datetimeFigureOut">
              <a:rPr lang="en-US" smtClean="0"/>
              <a:t>6/8/26</a:t>
            </a:fld>
            <a:endParaRPr lang="en-US"/>
          </a:p>
        </p:txBody>
      </p:sp>
      <p:sp>
        <p:nvSpPr>
          <p:cNvPr id="5" name="Footer Placeholder 4">
            <a:extLst>
              <a:ext uri="{FF2B5EF4-FFF2-40B4-BE49-F238E27FC236}">
                <a16:creationId xmlns:a16="http://schemas.microsoft.com/office/drawing/2014/main" id="{D537201F-7B37-8668-A143-3BAABC56FC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94B9E0-4D3F-C0AB-0759-39E8C8285B07}"/>
              </a:ext>
            </a:extLst>
          </p:cNvPr>
          <p:cNvSpPr>
            <a:spLocks noGrp="1"/>
          </p:cNvSpPr>
          <p:nvPr>
            <p:ph type="sldNum" sz="quarter" idx="12"/>
          </p:nvPr>
        </p:nvSpPr>
        <p:spPr/>
        <p:txBody>
          <a:bodyPr/>
          <a:lstStyle/>
          <a:p>
            <a:fld id="{BC9CA519-93F5-444E-A075-7F3A23EC9A2F}" type="slidenum">
              <a:rPr lang="en-US" smtClean="0"/>
              <a:t>‹#›</a:t>
            </a:fld>
            <a:endParaRPr lang="en-US"/>
          </a:p>
        </p:txBody>
      </p:sp>
    </p:spTree>
    <p:extLst>
      <p:ext uri="{BB962C8B-B14F-4D97-AF65-F5344CB8AC3E}">
        <p14:creationId xmlns:p14="http://schemas.microsoft.com/office/powerpoint/2010/main" val="286327093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C3A9DE-2E21-3653-B9AC-07FC07CDFC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213F83D-25A7-496E-5EDA-1B7E387FA7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9D8378-B6B7-BCAD-1D71-65163E40F5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A0AE30-C009-804B-95C4-F862B2BCE0A2}" type="datetimeFigureOut">
              <a:rPr lang="en-US" smtClean="0"/>
              <a:t>6/8/26</a:t>
            </a:fld>
            <a:endParaRPr lang="en-US"/>
          </a:p>
        </p:txBody>
      </p:sp>
      <p:sp>
        <p:nvSpPr>
          <p:cNvPr id="5" name="Footer Placeholder 4">
            <a:extLst>
              <a:ext uri="{FF2B5EF4-FFF2-40B4-BE49-F238E27FC236}">
                <a16:creationId xmlns:a16="http://schemas.microsoft.com/office/drawing/2014/main" id="{6284B50D-FAC2-4CC6-89FD-1BB378DE9D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52B6AA9-06D4-663C-3802-1528247D95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9CA519-93F5-444E-A075-7F3A23EC9A2F}" type="slidenum">
              <a:rPr lang="en-US" smtClean="0"/>
              <a:t>‹#›</a:t>
            </a:fld>
            <a:endParaRPr lang="en-US"/>
          </a:p>
        </p:txBody>
      </p:sp>
    </p:spTree>
    <p:extLst>
      <p:ext uri="{BB962C8B-B14F-4D97-AF65-F5344CB8AC3E}">
        <p14:creationId xmlns:p14="http://schemas.microsoft.com/office/powerpoint/2010/main" val="17938452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jpg"/><Relationship Id="rId3"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jpg"/><Relationship Id="rId3" Type="http://schemas.openxmlformats.org/officeDocument/2006/relationships/notesSlide" Target="../notesSlides/notesSlide5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jpg"/><Relationship Id="rId3" Type="http://schemas.openxmlformats.org/officeDocument/2006/relationships/notesSlide" Target="../notesSlides/notesSlide6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jpg"/><Relationship Id="rId3" Type="http://schemas.openxmlformats.org/officeDocument/2006/relationships/notesSlide" Target="../notesSlides/notesSlide8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jpg"/><Relationship Id="rId3" Type="http://schemas.openxmlformats.org/officeDocument/2006/relationships/notesSlide" Target="../notesSlides/notesSlide8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jpg"/><Relationship Id="rId3" Type="http://schemas.openxmlformats.org/officeDocument/2006/relationships/notesSlide" Target="../notesSlides/notesSlide9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jpg"/><Relationship Id="rId3" Type="http://schemas.openxmlformats.org/officeDocument/2006/relationships/notesSlide" Target="../notesSlides/notesSlide10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8.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Additional Pediatric POCUS Topics</a:t>
            </a:r>
          </a:p>
        </p:txBody>
      </p:sp>
      <p:sp>
        <p:nvSpPr>
          <p:cNvPr id="3" name="Text Placeholder 2"/>
          <p:cNvSpPr>
            <a:spLocks noGrp="1"/>
          </p:cNvSpPr>
          <p:nvPr>
            <p:ph type="body" idx="1"/>
          </p:nvPr>
        </p:nvSpPr>
        <p:spPr/>
        <p:txBody>
          <a:bodyPr/>
          <a:lstStyle/>
          <a:p>
            <a:r>
              <a:t>SBO  •  Intussusception  •  Femur/Long-Bone Fracture  •  Pneumothorax  •  Constipation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Small Bowel Obstruction</a:t>
            </a:r>
          </a:p>
        </p:txBody>
      </p:sp>
      <p:sp>
        <p:nvSpPr>
          <p:cNvPr id="3" name="Text Placeholder 2"/>
          <p:cNvSpPr>
            <a:spLocks noGrp="1"/>
          </p:cNvSpPr>
          <p:nvPr>
            <p:ph type="body" idx="1"/>
          </p:nvPr>
        </p:nvSpPr>
        <p:spPr/>
        <p:txBody>
          <a:bodyPr/>
          <a:lstStyle/>
          <a:p>
            <a:r>
              <a:t>Pediatric Bowel POCUS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4-year-old with bilious vomiting &amp; a distended belly</a:t>
            </a:r>
          </a:p>
        </p:txBody>
      </p:sp>
      <p:sp>
        <p:nvSpPr>
          <p:cNvPr id="3" name="Content Placeholder 2"/>
          <p:cNvSpPr>
            <a:spLocks noGrp="1"/>
          </p:cNvSpPr>
          <p:nvPr>
            <p:ph idx="1"/>
          </p:nvPr>
        </p:nvSpPr>
        <p:spPr/>
        <p:txBody>
          <a:bodyPr wrap="square"/>
          <a:lstStyle/>
          <a:p>
            <a:pPr/>
            <a:r>
              <a:rPr b="1"/>
              <a:t>History</a:t>
            </a:r>
          </a:p>
          <a:p>
            <a:pPr lvl="1"/>
            <a:r>
              <a:t>Prior abdominal surgery; 1 day of crampy pain</a:t>
            </a:r>
          </a:p>
          <a:p>
            <a:pPr lvl="1"/>
            <a:r>
              <a:t>Multiple episodes of bilious (green) vomiting</a:t>
            </a:r>
          </a:p>
          <a:p>
            <a:pPr lvl="1"/>
            <a:r>
              <a:t>No stool or flatus today; abdomen distended &amp; tympanitic</a:t>
            </a:r>
          </a:p>
          <a:p>
            <a:pPr/>
            <a:r>
              <a:rPr b="1"/>
              <a:t>Why POCUS first?</a:t>
            </a:r>
          </a:p>
          <a:p>
            <a:pPr lvl="1"/>
            <a:r>
              <a:t>Avoid/limit ionizing radiation of serial plain films</a:t>
            </a:r>
          </a:p>
          <a:p>
            <a:pPr lvl="1"/>
            <a:r>
              <a:t>Bedside, repeatable, dynamic assessment of peristalsis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a clinical photo of the distended abdomen or the triage vitals.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Indications for Bowel / SBO POCUS</a:t>
            </a:r>
          </a:p>
        </p:txBody>
      </p:sp>
      <p:sp>
        <p:nvSpPr>
          <p:cNvPr id="3" name="Content Placeholder 2"/>
          <p:cNvSpPr>
            <a:spLocks noGrp="1"/>
          </p:cNvSpPr>
          <p:nvPr>
            <p:ph idx="1"/>
          </p:nvPr>
        </p:nvSpPr>
        <p:spPr/>
        <p:txBody>
          <a:bodyPr wrap="square"/>
          <a:lstStyle/>
          <a:p>
            <a:pPr/>
            <a:r>
              <a:rPr b="1"/>
              <a:t>Bilious or persistent vomiting</a:t>
            </a:r>
          </a:p>
          <a:p>
            <a:pPr/>
            <a:r>
              <a:rPr b="1"/>
              <a:t>Abdominal distension and/or crampy pain</a:t>
            </a:r>
          </a:p>
          <a:p>
            <a:pPr/>
            <a:r>
              <a:rPr b="1"/>
              <a:t>Obstipation – no stool or flatus</a:t>
            </a:r>
          </a:p>
          <a:p>
            <a:pPr/>
            <a:r>
              <a:rPr b="1"/>
              <a:t>Prior abdominal surgery (adhesions) or known hernia</a:t>
            </a:r>
          </a:p>
          <a:p>
            <a:pPr/>
            <a:r>
              <a:rPr b="1"/>
              <a:t>To reduce repeat radiographs in a child needing serial exams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an institutional algorithm or indication list image.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 Up For Success</a:t>
            </a:r>
          </a:p>
        </p:txBody>
      </p:sp>
      <p:sp>
        <p:nvSpPr>
          <p:cNvPr id="3" name="Content Placeholder 2"/>
          <p:cNvSpPr>
            <a:spLocks noGrp="1"/>
          </p:cNvSpPr>
          <p:nvPr>
            <p:ph idx="1" sz="half"/>
          </p:nvPr>
        </p:nvSpPr>
        <p:spPr/>
        <p:txBody>
          <a:bodyPr wrap="square"/>
          <a:lstStyle/>
          <a:p>
            <a:pPr/>
            <a:r>
              <a:rPr b="1"/>
              <a:t>Transducer: Curvilinear (low-frequency)</a:t>
            </a:r>
          </a:p>
          <a:p>
            <a:pPr lvl="1"/>
            <a:r>
              <a:t>Linear high-frequency in infants/thin children for wall detail</a:t>
            </a:r>
          </a:p>
          <a:p>
            <a:pPr/>
            <a:r>
              <a:rPr b="1"/>
              <a:t>Preset: Abdomen</a:t>
            </a:r>
          </a:p>
          <a:p>
            <a:pPr/>
            <a:r>
              <a:rPr b="1"/>
              <a:t>Patient Position: Supine, head of bed flat; parent at bedside</a:t>
            </a:r>
          </a:p>
        </p:txBody>
      </p:sp>
      <p:sp>
        <p:nvSpPr>
          <p:cNvPr id="4" name="Content Placeholder 3"/>
          <p:cNvSpPr>
            <a:spLocks noGrp="1"/>
          </p:cNvSpPr>
          <p:nvPr>
            <p:ph idx="2" sz="half"/>
          </p:nvPr>
        </p:nvSpPr>
        <p:spPr/>
        <p:txBody>
          <a:bodyPr wrap="square"/>
          <a:lstStyle/>
          <a:p>
            <a:pPr/>
            <a:r>
              <a:rPr b="1"/>
              <a:t>Tips</a:t>
            </a:r>
          </a:p>
          <a:p>
            <a:pPr lvl="1"/>
            <a:r>
              <a:t>“Mow the lawn” – cover all 4 quadrants systematically</a:t>
            </a:r>
          </a:p>
          <a:p>
            <a:pPr lvl="1"/>
            <a:r>
              <a:t>Scan in transverse AND sagittal</a:t>
            </a:r>
          </a:p>
          <a:p>
            <a:pPr lvl="1"/>
            <a:r>
              <a:t>Use graded compression to displace gas</a:t>
            </a:r>
          </a:p>
          <a:p>
            <a:pPr lvl="1"/>
            <a:r>
              <a:t>Warm gel + distraction = a still patient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a photo of probe-in-hand / patient positioning.</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 “Mow the Lawn”</a:t>
            </a:r>
          </a:p>
        </p:txBody>
      </p:sp>
      <p:sp>
        <p:nvSpPr>
          <p:cNvPr id="3" name="Content Placeholder 2"/>
          <p:cNvSpPr>
            <a:spLocks noGrp="1"/>
          </p:cNvSpPr>
          <p:nvPr>
            <p:ph idx="1"/>
          </p:nvPr>
        </p:nvSpPr>
        <p:spPr/>
        <p:txBody>
          <a:bodyPr wrap="square"/>
          <a:lstStyle/>
          <a:p>
            <a:pPr/>
            <a:r>
              <a:rPr b="1"/>
              <a:t>Survey all four quadrants in overlapping sweeps</a:t>
            </a:r>
          </a:p>
          <a:p>
            <a:pPr lvl="1"/>
            <a:r>
              <a:t>Transverse sweeps top-to-bottom, then sagittal</a:t>
            </a:r>
          </a:p>
          <a:p>
            <a:pPr/>
            <a:r>
              <a:rPr b="1"/>
              <a:t>At each loop assess FOUR things:</a:t>
            </a:r>
          </a:p>
          <a:p>
            <a:pPr lvl="1"/>
            <a:r>
              <a:t>Diameter (measure outer-to-outer)</a:t>
            </a:r>
          </a:p>
          <a:p>
            <a:pPr lvl="1"/>
            <a:r>
              <a:t>Wall – thickness and gut signature</a:t>
            </a:r>
          </a:p>
          <a:p>
            <a:pPr lvl="1"/>
            <a:r>
              <a:t>Peristalsis – active vs to-and-fro vs absent</a:t>
            </a:r>
          </a:p>
          <a:p>
            <a:pPr lvl="1"/>
            <a:r>
              <a:t>Free fluid between loops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a labeled scan-zone diagram of the abdomen.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Normal Bowel</a:t>
            </a:r>
          </a:p>
        </p:txBody>
      </p:sp>
      <p:sp>
        <p:nvSpPr>
          <p:cNvPr id="3" name="Rounded Rectangle 2"/>
          <p:cNvSpPr/>
          <p:nvPr/>
        </p:nvSpPr>
        <p:spPr>
          <a:xfrm>
            <a:off x="640080" y="1828800"/>
            <a:ext cx="1737360" cy="384048"/>
          </a:xfrm>
          <a:prstGeom prst="round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b="1" sz="1400">
                <a:solidFill>
                  <a:srgbClr val="FFFFFF"/>
                </a:solidFill>
              </a:rPr>
              <a:t>NORMAL</a:t>
            </a:r>
          </a:p>
        </p:txBody>
      </p:sp>
      <p:sp>
        <p:nvSpPr>
          <p:cNvPr id="4" name="TextBox 3"/>
          <p:cNvSpPr txBox="1"/>
          <p:nvPr/>
        </p:nvSpPr>
        <p:spPr>
          <a:xfrm>
            <a:off x="2011680" y="6053328"/>
            <a:ext cx="8138160" cy="457200"/>
          </a:xfrm>
          <a:prstGeom prst="rect">
            <a:avLst/>
          </a:prstGeom>
          <a:noFill/>
        </p:spPr>
        <p:txBody>
          <a:bodyPr wrap="square">
            <a:spAutoFit/>
          </a:bodyPr>
          <a:lstStyle/>
          <a:p>
            <a:pPr algn="ctr"/>
            <a:r>
              <a:rPr sz="900" i="1">
                <a:solidFill>
                  <a:srgbClr val="595959"/>
                </a:solidFill>
              </a:rPr>
              <a:t>Schematic on the following reference is described in notes; embed your own normal-bowel clip on the next slide.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your own NORMAL non-dilated bowel clip (note peristalsis).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Pathology – Small Bowel Obstruction</a:t>
            </a:r>
          </a:p>
        </p:txBody>
      </p:sp>
      <p:pic>
        <p:nvPicPr>
          <p:cNvPr id="3" name="Picture 2" descr="sbo_ileus.jpg"/>
          <p:cNvPicPr>
            <a:picLocks noChangeAspect="1"/>
          </p:cNvPicPr>
          <p:nvPr/>
        </p:nvPicPr>
        <p:blipFill>
          <a:blip r:embed="rId2"/>
          <a:stretch>
            <a:fillRect/>
          </a:stretch>
        </p:blipFill>
        <p:spPr>
          <a:xfrm>
            <a:off x="3373495" y="1691640"/>
            <a:ext cx="5414529" cy="4297680"/>
          </a:xfrm>
          <a:prstGeom prst="rect">
            <a:avLst/>
          </a:prstGeom>
        </p:spPr>
      </p:pic>
      <p:sp>
        <p:nvSpPr>
          <p:cNvPr id="4" name="Rounded Rectangle 3"/>
          <p:cNvSpPr/>
          <p:nvPr/>
        </p:nvSpPr>
        <p:spPr>
          <a:xfrm>
            <a:off x="640080" y="1828800"/>
            <a:ext cx="1737360" cy="384048"/>
          </a:xfrm>
          <a:prstGeom prst="round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b="1" sz="1400">
                <a:solidFill>
                  <a:srgbClr val="FFFFFF"/>
                </a:solidFill>
              </a:rPr>
              <a:t>SBO</a:t>
            </a:r>
          </a:p>
        </p:txBody>
      </p:sp>
      <p:sp>
        <p:nvSpPr>
          <p:cNvPr id="5" name="TextBox 4"/>
          <p:cNvSpPr txBox="1"/>
          <p:nvPr/>
        </p:nvSpPr>
        <p:spPr>
          <a:xfrm>
            <a:off x="2011680" y="6053328"/>
            <a:ext cx="8138160" cy="457200"/>
          </a:xfrm>
          <a:prstGeom prst="rect">
            <a:avLst/>
          </a:prstGeom>
          <a:noFill/>
        </p:spPr>
        <p:txBody>
          <a:bodyPr wrap="square">
            <a:spAutoFit/>
          </a:bodyPr>
          <a:lstStyle/>
          <a:p>
            <a:pPr algn="ctr"/>
            <a:r>
              <a:rPr sz="900" i="1">
                <a:solidFill>
                  <a:srgbClr val="595959"/>
                </a:solidFill>
              </a:rPr>
              <a:t>Dilated fluid-filled loop with valvulae conniventes (“keyboard sign”), caliper ~3 cm. Hellerhoff, Wikimedia Commons, CC BY-SA 4.0.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your own SBO clip (dilated loops, keyboard sign, to-and-fro peristalsis).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Pearls &amp; Pitfalls</a:t>
            </a:r>
          </a:p>
        </p:txBody>
      </p:sp>
      <p:sp>
        <p:nvSpPr>
          <p:cNvPr id="3" name="Content Placeholder 2"/>
          <p:cNvSpPr>
            <a:spLocks noGrp="1"/>
          </p:cNvSpPr>
          <p:nvPr>
            <p:ph idx="1"/>
          </p:nvPr>
        </p:nvSpPr>
        <p:spPr/>
        <p:txBody>
          <a:bodyPr wrap="square"/>
          <a:lstStyle/>
          <a:p>
            <a:pPr/>
            <a:r>
              <a:rPr b="1"/>
              <a:t>Performance</a:t>
            </a:r>
          </a:p>
          <a:p>
            <a:pPr lvl="1"/>
            <a:r>
              <a:t>POCUS Sn ~90% / Sp ~85% for SBO (adult data); outperforms plain films</a:t>
            </a:r>
          </a:p>
          <a:p>
            <a:pPr/>
            <a:r>
              <a:rPr b="1"/>
              <a:t>Pearls</a:t>
            </a:r>
          </a:p>
          <a:p>
            <a:pPr lvl="1"/>
            <a:r>
              <a:t>Dilation &gt;2.5 cm + abnormal peristalsis is the key combination</a:t>
            </a:r>
          </a:p>
          <a:p>
            <a:pPr lvl="1"/>
            <a:r>
              <a:t>Hunt for a transition point and interloop free fluid</a:t>
            </a:r>
          </a:p>
          <a:p>
            <a:pPr/>
            <a:r>
              <a:rPr b="1"/>
              <a:t>Pitfalls</a:t>
            </a:r>
          </a:p>
          <a:p>
            <a:pPr lvl="1"/>
            <a:r>
              <a:t>Operator-dependent; bowel gas can obscure deep loops</a:t>
            </a:r>
          </a:p>
          <a:p>
            <a:pPr lvl="1"/>
            <a:r>
              <a:t>Does not define the cause – CT/surgery when etiology must be known</a:t>
            </a:r>
          </a:p>
          <a:p>
            <a:pPr lvl="1"/>
            <a:r>
              <a:t>Always consider malrotation/volvulus in the vomiting infant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a summary graphic or your teaching take-home points.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Intussusception</a:t>
            </a:r>
          </a:p>
        </p:txBody>
      </p:sp>
      <p:sp>
        <p:nvSpPr>
          <p:cNvPr id="3" name="Text Placeholder 2"/>
          <p:cNvSpPr>
            <a:spLocks noGrp="1"/>
          </p:cNvSpPr>
          <p:nvPr>
            <p:ph type="body" idx="1"/>
          </p:nvPr>
        </p:nvSpPr>
        <p:spPr/>
        <p:txBody>
          <a:bodyPr/>
          <a:lstStyle/>
          <a:p>
            <a:r>
              <a:t>The classic pediatric “telescoping” bowel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10-month-old with intermittent screaming &amp; leg-drawing</a:t>
            </a:r>
          </a:p>
        </p:txBody>
      </p:sp>
      <p:sp>
        <p:nvSpPr>
          <p:cNvPr id="3" name="Content Placeholder 2"/>
          <p:cNvSpPr>
            <a:spLocks noGrp="1"/>
          </p:cNvSpPr>
          <p:nvPr>
            <p:ph idx="1"/>
          </p:nvPr>
        </p:nvSpPr>
        <p:spPr/>
        <p:txBody>
          <a:bodyPr wrap="square"/>
          <a:lstStyle/>
          <a:p>
            <a:pPr/>
            <a:r>
              <a:rPr b="1"/>
              <a:t>History</a:t>
            </a:r>
          </a:p>
          <a:p>
            <a:pPr lvl="1"/>
            <a:r>
              <a:t>Sudden episodes of colicky pain every 15–20 min, drawing up legs</a:t>
            </a:r>
          </a:p>
          <a:p>
            <a:pPr lvl="1"/>
            <a:r>
              <a:t>Lethargic and pale between episodes</a:t>
            </a:r>
          </a:p>
          <a:p>
            <a:pPr lvl="1"/>
            <a:r>
              <a:t>Vomiting; one “currant-jelly” (bloody, mucousy) stool</a:t>
            </a:r>
          </a:p>
          <a:p>
            <a:pPr/>
            <a:r>
              <a:rPr b="1"/>
              <a:t>Exam</a:t>
            </a:r>
          </a:p>
          <a:p>
            <a:pPr lvl="1"/>
            <a:r>
              <a:t>Possible sausage-shaped RUQ mass</a:t>
            </a:r>
          </a:p>
          <a:p>
            <a:pPr lvl="1"/>
            <a:r>
              <a:t>Often well-appearing between paroxysms – don’t be falsely reassured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a clinical photo or the classic currant-jelly stool image.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Indications for Intussusception POCUS</a:t>
            </a:r>
          </a:p>
        </p:txBody>
      </p:sp>
      <p:sp>
        <p:nvSpPr>
          <p:cNvPr id="3" name="Content Placeholder 2"/>
          <p:cNvSpPr>
            <a:spLocks noGrp="1"/>
          </p:cNvSpPr>
          <p:nvPr>
            <p:ph idx="1"/>
          </p:nvPr>
        </p:nvSpPr>
        <p:spPr/>
        <p:txBody>
          <a:bodyPr wrap="square"/>
          <a:lstStyle/>
          <a:p>
            <a:pPr/>
            <a:r>
              <a:rPr b="1"/>
              <a:t>Intermittent / colicky abdominal pain in a young child</a:t>
            </a:r>
          </a:p>
          <a:p>
            <a:pPr/>
            <a:r>
              <a:rPr b="1"/>
              <a:t>Vomiting, lethargy, pallor</a:t>
            </a:r>
          </a:p>
          <a:p>
            <a:pPr/>
            <a:r>
              <a:rPr b="1"/>
              <a:t>Palpable abdominal mass</a:t>
            </a:r>
          </a:p>
          <a:p>
            <a:pPr/>
            <a:r>
              <a:rPr b="1"/>
              <a:t>Currant-jelly or bloody stool</a:t>
            </a:r>
          </a:p>
          <a:p>
            <a:pPr/>
            <a:r>
              <a:rPr b="1"/>
              <a:t>Unexplained lethargy in an infant/toddler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an indication list or department pathway image.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 Up For Success</a:t>
            </a:r>
          </a:p>
        </p:txBody>
      </p:sp>
      <p:sp>
        <p:nvSpPr>
          <p:cNvPr id="3" name="Content Placeholder 2"/>
          <p:cNvSpPr>
            <a:spLocks noGrp="1"/>
          </p:cNvSpPr>
          <p:nvPr>
            <p:ph idx="1" sz="half"/>
          </p:nvPr>
        </p:nvSpPr>
        <p:spPr/>
        <p:txBody>
          <a:bodyPr wrap="square"/>
          <a:lstStyle/>
          <a:p>
            <a:pPr/>
            <a:r>
              <a:rPr b="1"/>
              <a:t>Transducer: Linear high-frequency (best resolution)</a:t>
            </a:r>
          </a:p>
          <a:p>
            <a:pPr lvl="1"/>
            <a:r>
              <a:t>Curvilinear in larger children or for depth</a:t>
            </a:r>
          </a:p>
          <a:p>
            <a:pPr/>
            <a:r>
              <a:rPr b="1"/>
              <a:t>Preset: Abdomen / Soft tissue</a:t>
            </a:r>
          </a:p>
          <a:p>
            <a:pPr/>
            <a:r>
              <a:rPr b="1"/>
              <a:t>Patient Position: Supine, comfortable, parent present</a:t>
            </a:r>
          </a:p>
        </p:txBody>
      </p:sp>
      <p:sp>
        <p:nvSpPr>
          <p:cNvPr id="4" name="Content Placeholder 3"/>
          <p:cNvSpPr>
            <a:spLocks noGrp="1"/>
          </p:cNvSpPr>
          <p:nvPr>
            <p:ph idx="2" sz="half"/>
          </p:nvPr>
        </p:nvSpPr>
        <p:spPr/>
        <p:txBody>
          <a:bodyPr wrap="square"/>
          <a:lstStyle/>
          <a:p>
            <a:pPr/>
            <a:r>
              <a:rPr b="1"/>
              <a:t>Tips</a:t>
            </a:r>
          </a:p>
          <a:p>
            <a:pPr lvl="1"/>
            <a:r>
              <a:t>Start in the RLQ at the cecum</a:t>
            </a:r>
          </a:p>
          <a:p>
            <a:pPr lvl="1"/>
            <a:r>
              <a:t>Follow the colon clockwise: cecum → ascending → transverse → descending</a:t>
            </a:r>
          </a:p>
          <a:p>
            <a:pPr lvl="1"/>
            <a:r>
              <a:t>Most ileocolic targets sit in the RUQ / subhepatic region</a:t>
            </a:r>
          </a:p>
          <a:p>
            <a:pPr lvl="1"/>
            <a:r>
              <a:t>Graded compression to displace gas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a probe/positioning photo or colon-tracing diagram.</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 Trace the Colon</a:t>
            </a:r>
          </a:p>
        </p:txBody>
      </p:sp>
      <p:sp>
        <p:nvSpPr>
          <p:cNvPr id="3" name="Content Placeholder 2"/>
          <p:cNvSpPr>
            <a:spLocks noGrp="1"/>
          </p:cNvSpPr>
          <p:nvPr>
            <p:ph idx="1"/>
          </p:nvPr>
        </p:nvSpPr>
        <p:spPr/>
        <p:txBody>
          <a:bodyPr wrap="square"/>
          <a:lstStyle/>
          <a:p>
            <a:pPr/>
            <a:r>
              <a:rPr b="1"/>
              <a:t>Graded-compression survey along the entire colon</a:t>
            </a:r>
          </a:p>
          <a:p>
            <a:pPr/>
            <a:r>
              <a:rPr b="1"/>
              <a:t>Scan each segment in BOTH planes:</a:t>
            </a:r>
          </a:p>
          <a:p>
            <a:pPr lvl="1"/>
            <a:r>
              <a:t>Transverse → look for the target/doughnut</a:t>
            </a:r>
          </a:p>
          <a:p>
            <a:pPr lvl="1"/>
            <a:r>
              <a:t>Longitudinal → look for the pseudokidney</a:t>
            </a:r>
          </a:p>
          <a:p>
            <a:pPr/>
            <a:r>
              <a:rPr b="1"/>
              <a:t>Add color Doppler to assess wall perfusion</a:t>
            </a:r>
          </a:p>
          <a:p>
            <a:pPr/>
            <a:r>
              <a:rPr b="1"/>
              <a:t>Measure the diameter of any suspicious mass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a labeled technique diagram.</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Pathology – Target Sign (Transverse)</a:t>
            </a:r>
          </a:p>
        </p:txBody>
      </p:sp>
      <p:pic>
        <p:nvPicPr>
          <p:cNvPr id="3" name="Picture 2" descr="intuss_target.jpg"/>
          <p:cNvPicPr>
            <a:picLocks noChangeAspect="1"/>
          </p:cNvPicPr>
          <p:nvPr/>
        </p:nvPicPr>
        <p:blipFill>
          <a:blip r:embed="rId2"/>
          <a:stretch>
            <a:fillRect/>
          </a:stretch>
        </p:blipFill>
        <p:spPr>
          <a:xfrm>
            <a:off x="3779726" y="1691640"/>
            <a:ext cx="4602068" cy="4297680"/>
          </a:xfrm>
          <a:prstGeom prst="rect">
            <a:avLst/>
          </a:prstGeom>
        </p:spPr>
      </p:pic>
      <p:sp>
        <p:nvSpPr>
          <p:cNvPr id="4" name="Rounded Rectangle 3"/>
          <p:cNvSpPr/>
          <p:nvPr/>
        </p:nvSpPr>
        <p:spPr>
          <a:xfrm>
            <a:off x="640080" y="1828800"/>
            <a:ext cx="1737360" cy="384048"/>
          </a:xfrm>
          <a:prstGeom prst="round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b="1" sz="1400">
                <a:solidFill>
                  <a:srgbClr val="FFFFFF"/>
                </a:solidFill>
              </a:rPr>
              <a:t>TARGET</a:t>
            </a:r>
          </a:p>
        </p:txBody>
      </p:sp>
      <p:sp>
        <p:nvSpPr>
          <p:cNvPr id="5" name="TextBox 4"/>
          <p:cNvSpPr txBox="1"/>
          <p:nvPr/>
        </p:nvSpPr>
        <p:spPr>
          <a:xfrm>
            <a:off x="2011680" y="6053328"/>
            <a:ext cx="8138160" cy="457200"/>
          </a:xfrm>
          <a:prstGeom prst="rect">
            <a:avLst/>
          </a:prstGeom>
          <a:noFill/>
        </p:spPr>
        <p:txBody>
          <a:bodyPr wrap="square">
            <a:spAutoFit/>
          </a:bodyPr>
          <a:lstStyle/>
          <a:p>
            <a:pPr algn="ctr"/>
            <a:r>
              <a:rPr sz="900" i="1">
                <a:solidFill>
                  <a:srgbClr val="595959"/>
                </a:solidFill>
              </a:rPr>
              <a:t>Ileocolic intussusception, transverse – “target / doughnut” sign (bowel-within-bowel). Frank Gaillard, Radiopaedia.org via Wikimedia Commons, CC BY-SA 3.0.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your own transverse target-sign clip.</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Pathology – Pseudokidney Sign (Longitudinal)</a:t>
            </a:r>
          </a:p>
        </p:txBody>
      </p:sp>
      <p:pic>
        <p:nvPicPr>
          <p:cNvPr id="3" name="Picture 2" descr="intuss_pseudokidney.jpg"/>
          <p:cNvPicPr>
            <a:picLocks noChangeAspect="1"/>
          </p:cNvPicPr>
          <p:nvPr/>
        </p:nvPicPr>
        <p:blipFill>
          <a:blip r:embed="rId2"/>
          <a:stretch>
            <a:fillRect/>
          </a:stretch>
        </p:blipFill>
        <p:spPr>
          <a:xfrm>
            <a:off x="3407762" y="1691640"/>
            <a:ext cx="5345996" cy="4297680"/>
          </a:xfrm>
          <a:prstGeom prst="rect">
            <a:avLst/>
          </a:prstGeom>
        </p:spPr>
      </p:pic>
      <p:sp>
        <p:nvSpPr>
          <p:cNvPr id="4" name="Rounded Rectangle 3"/>
          <p:cNvSpPr/>
          <p:nvPr/>
        </p:nvSpPr>
        <p:spPr>
          <a:xfrm>
            <a:off x="640080" y="1828800"/>
            <a:ext cx="1737360" cy="384048"/>
          </a:xfrm>
          <a:prstGeom prst="round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b="1" sz="1400">
                <a:solidFill>
                  <a:srgbClr val="FFFFFF"/>
                </a:solidFill>
              </a:rPr>
              <a:t>PSEUDOKIDNEY</a:t>
            </a:r>
          </a:p>
        </p:txBody>
      </p:sp>
      <p:sp>
        <p:nvSpPr>
          <p:cNvPr id="5" name="TextBox 4"/>
          <p:cNvSpPr txBox="1"/>
          <p:nvPr/>
        </p:nvSpPr>
        <p:spPr>
          <a:xfrm>
            <a:off x="2011680" y="6053328"/>
            <a:ext cx="8138160" cy="457200"/>
          </a:xfrm>
          <a:prstGeom prst="rect">
            <a:avLst/>
          </a:prstGeom>
          <a:noFill/>
        </p:spPr>
        <p:txBody>
          <a:bodyPr wrap="square">
            <a:spAutoFit/>
          </a:bodyPr>
          <a:lstStyle/>
          <a:p>
            <a:pPr algn="ctr"/>
            <a:r>
              <a:rPr sz="900" i="1">
                <a:solidFill>
                  <a:srgbClr val="595959"/>
                </a:solidFill>
              </a:rPr>
              <a:t>Same pathology in long axis – “pseudokidney” sign. User:Cerevisae, Wikimedia Commons, CC BY-SA 4.0.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your own longitudinal pseudokidney clip.</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Pearls &amp; Pitfalls</a:t>
            </a:r>
          </a:p>
        </p:txBody>
      </p:sp>
      <p:sp>
        <p:nvSpPr>
          <p:cNvPr id="3" name="Content Placeholder 2"/>
          <p:cNvSpPr>
            <a:spLocks noGrp="1"/>
          </p:cNvSpPr>
          <p:nvPr>
            <p:ph idx="1"/>
          </p:nvPr>
        </p:nvSpPr>
        <p:spPr/>
        <p:txBody>
          <a:bodyPr wrap="square"/>
          <a:lstStyle/>
          <a:p>
            <a:pPr/>
            <a:r>
              <a:rPr b="1"/>
              <a:t>Pearls</a:t>
            </a:r>
          </a:p>
          <a:p>
            <a:pPr lvl="1"/>
            <a:r>
              <a:t>Confirm in 2 planes: target (transverse) + pseudokidney (long axis)</a:t>
            </a:r>
          </a:p>
          <a:p>
            <a:pPr lvl="1"/>
            <a:r>
              <a:t>Diameter &gt; 2.5 cm and absent Doppler flow = higher-risk lesion</a:t>
            </a:r>
          </a:p>
          <a:p>
            <a:pPr lvl="1"/>
            <a:r>
              <a:t>Most ileocolic targets are in the RUQ – look there first</a:t>
            </a:r>
          </a:p>
          <a:p>
            <a:pPr/>
            <a:r>
              <a:rPr b="1"/>
              <a:t>Pitfalls</a:t>
            </a:r>
          </a:p>
          <a:p>
            <a:pPr lvl="1"/>
            <a:r>
              <a:t>Small-bowel–small-bowel intussusception is usually small &amp; transient</a:t>
            </a:r>
          </a:p>
          <a:p>
            <a:pPr lvl="1"/>
            <a:r>
              <a:t>Classic triad is the exception, not the rule</a:t>
            </a:r>
          </a:p>
          <a:p>
            <a:pPr/>
            <a:r>
              <a:rPr b="1"/>
              <a:t>Management</a:t>
            </a:r>
          </a:p>
          <a:p>
            <a:pPr lvl="1"/>
            <a:r>
              <a:t>Confirm with radiology; treat with air/contrast enema reduction; surgery if failed/peritonitis/lead point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your take-home summary graphic.</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Femur &amp; Long-Bone Fracture</a:t>
            </a:r>
          </a:p>
        </p:txBody>
      </p:sp>
      <p:sp>
        <p:nvSpPr>
          <p:cNvPr id="3" name="Text Placeholder 2"/>
          <p:cNvSpPr>
            <a:spLocks noGrp="1"/>
          </p:cNvSpPr>
          <p:nvPr>
            <p:ph type="body" idx="1"/>
          </p:nvPr>
        </p:nvSpPr>
        <p:spPr/>
        <p:txBody>
          <a:bodyPr/>
          <a:lstStyle/>
          <a:p>
            <a:r>
              <a:t>Musculoskeletal POCUS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2-year-old refusing to bear weight after a fall</a:t>
            </a:r>
          </a:p>
        </p:txBody>
      </p:sp>
      <p:sp>
        <p:nvSpPr>
          <p:cNvPr id="3" name="Content Placeholder 2"/>
          <p:cNvSpPr>
            <a:spLocks noGrp="1"/>
          </p:cNvSpPr>
          <p:nvPr>
            <p:ph idx="1"/>
          </p:nvPr>
        </p:nvSpPr>
        <p:spPr/>
        <p:txBody>
          <a:bodyPr wrap="square"/>
          <a:lstStyle/>
          <a:p>
            <a:pPr/>
            <a:r>
              <a:rPr b="1"/>
              <a:t>History</a:t>
            </a:r>
          </a:p>
          <a:p>
            <a:pPr lvl="1"/>
            <a:r>
              <a:t>Fall from a height onto the leg; immediate crying</a:t>
            </a:r>
          </a:p>
          <a:p>
            <a:pPr lvl="1"/>
            <a:r>
              <a:t>Now refuses to stand or walk; thigh swollen</a:t>
            </a:r>
          </a:p>
          <a:p>
            <a:pPr/>
            <a:r>
              <a:rPr b="1"/>
              <a:t>Exam</a:t>
            </a:r>
          </a:p>
          <a:p>
            <a:pPr lvl="1"/>
            <a:r>
              <a:t>Focal mid-thigh tenderness, swelling, possible deformity</a:t>
            </a:r>
          </a:p>
          <a:p>
            <a:pPr lvl="1"/>
            <a:r>
              <a:t>Pseudoparalysis of the limb</a:t>
            </a:r>
          </a:p>
          <a:p>
            <a:pPr/>
            <a:r>
              <a:rPr b="1"/>
              <a:t>Consider non-accidental trauma in non-ambulatory infants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a clinical photo of the swollen thigh / deformity.</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Indications for MSK / Fracture POCUS</a:t>
            </a:r>
          </a:p>
        </p:txBody>
      </p:sp>
      <p:sp>
        <p:nvSpPr>
          <p:cNvPr id="3" name="Content Placeholder 2"/>
          <p:cNvSpPr>
            <a:spLocks noGrp="1"/>
          </p:cNvSpPr>
          <p:nvPr>
            <p:ph idx="1"/>
          </p:nvPr>
        </p:nvSpPr>
        <p:spPr/>
        <p:txBody>
          <a:bodyPr wrap="square"/>
          <a:lstStyle/>
          <a:p>
            <a:pPr/>
            <a:r>
              <a:rPr b="1"/>
              <a:t>Focal bony tenderness, swelling, or deformity</a:t>
            </a:r>
          </a:p>
          <a:p>
            <a:pPr/>
            <a:r>
              <a:rPr b="1"/>
              <a:t>Limp or refusal to bear weight</a:t>
            </a:r>
          </a:p>
          <a:p>
            <a:pPr/>
            <a:r>
              <a:rPr b="1"/>
              <a:t>Confirm a clinically suspected fracture at the bedside</a:t>
            </a:r>
          </a:p>
          <a:p>
            <a:pPr/>
            <a:r>
              <a:rPr b="1"/>
              <a:t>Guide reduction and procedural anesthesia</a:t>
            </a:r>
          </a:p>
          <a:p>
            <a:pPr lvl="1"/>
            <a:r>
              <a:t>Ultrasound-guided femoral nerve / fascia iliaca block</a:t>
            </a:r>
          </a:p>
          <a:p>
            <a:pPr lvl="1"/>
            <a:r>
              <a:t>Hematoma block; confirm reduction adequacy</a:t>
            </a:r>
          </a:p>
          <a:p>
            <a:pPr/>
            <a:r>
              <a:rPr b="1"/>
              <a:t>Radiation-sparing / prehospital / resource-limited settings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an indication list or block-anatomy image.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 Up For Success</a:t>
            </a:r>
          </a:p>
        </p:txBody>
      </p:sp>
      <p:sp>
        <p:nvSpPr>
          <p:cNvPr id="3" name="Content Placeholder 2"/>
          <p:cNvSpPr>
            <a:spLocks noGrp="1"/>
          </p:cNvSpPr>
          <p:nvPr>
            <p:ph idx="1" sz="half"/>
          </p:nvPr>
        </p:nvSpPr>
        <p:spPr/>
        <p:txBody>
          <a:bodyPr wrap="square"/>
          <a:lstStyle/>
          <a:p>
            <a:pPr/>
            <a:r>
              <a:rPr b="1"/>
              <a:t>Transducer: Linear high-frequency for superficial bone</a:t>
            </a:r>
          </a:p>
          <a:p>
            <a:pPr lvl="1"/>
            <a:r>
              <a:t>Curvilinear for the deep femoral shaft in a larger thigh</a:t>
            </a:r>
          </a:p>
          <a:p>
            <a:pPr/>
            <a:r>
              <a:rPr b="1"/>
              <a:t>Preset: MSK / Soft tissue</a:t>
            </a:r>
          </a:p>
          <a:p>
            <a:pPr/>
            <a:r>
              <a:rPr b="1"/>
              <a:t>Patient Position: Comfortable; expose and scan the whole bone</a:t>
            </a:r>
          </a:p>
        </p:txBody>
      </p:sp>
      <p:sp>
        <p:nvSpPr>
          <p:cNvPr id="4" name="Content Placeholder 3"/>
          <p:cNvSpPr>
            <a:spLocks noGrp="1"/>
          </p:cNvSpPr>
          <p:nvPr>
            <p:ph idx="2" sz="half"/>
          </p:nvPr>
        </p:nvSpPr>
        <p:spPr/>
        <p:txBody>
          <a:bodyPr wrap="square"/>
          <a:lstStyle/>
          <a:p>
            <a:pPr/>
            <a:r>
              <a:rPr b="1"/>
              <a:t>Tips</a:t>
            </a:r>
          </a:p>
          <a:p>
            <a:pPr lvl="1"/>
            <a:r>
              <a:t>Scan in TWO planes – long axis and short axis</a:t>
            </a:r>
          </a:p>
          <a:p>
            <a:pPr lvl="1"/>
            <a:r>
              <a:t>Examine the entire length of the bone</a:t>
            </a:r>
          </a:p>
          <a:p>
            <a:pPr lvl="1"/>
            <a:r>
              <a:t>Compare with the contralateral (uninjured) side</a:t>
            </a:r>
          </a:p>
          <a:p>
            <a:pPr lvl="1"/>
            <a:r>
              <a:t>Copious gel; minimal pressure over the tender area</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a positioning / probe-orientation photo.</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 Scan the Whole Cortex</a:t>
            </a:r>
          </a:p>
        </p:txBody>
      </p:sp>
      <p:sp>
        <p:nvSpPr>
          <p:cNvPr id="3" name="Content Placeholder 2"/>
          <p:cNvSpPr>
            <a:spLocks noGrp="1"/>
          </p:cNvSpPr>
          <p:nvPr>
            <p:ph idx="1"/>
          </p:nvPr>
        </p:nvSpPr>
        <p:spPr/>
        <p:txBody>
          <a:bodyPr wrap="square"/>
          <a:lstStyle/>
          <a:p>
            <a:pPr/>
            <a:r>
              <a:rPr b="1"/>
              <a:t>Long axis: follow the bright cortical line end to end</a:t>
            </a:r>
          </a:p>
          <a:p>
            <a:pPr/>
            <a:r>
              <a:rPr b="1"/>
              <a:t>Short axis: rotate 90° and sweep the length</a:t>
            </a:r>
          </a:p>
          <a:p>
            <a:pPr/>
            <a:r>
              <a:rPr b="1"/>
              <a:t>Look for:</a:t>
            </a:r>
          </a:p>
          <a:p>
            <a:pPr lvl="1"/>
            <a:r>
              <a:t>Step-off / break in the hyperechoic cortex</a:t>
            </a:r>
          </a:p>
          <a:p>
            <a:pPr lvl="1"/>
            <a:r>
              <a:t>Periosteal elevation with hypoechoic hematoma</a:t>
            </a:r>
          </a:p>
          <a:p>
            <a:pPr lvl="1"/>
            <a:r>
              <a:t>Cortical angulation or buckling (torus)</a:t>
            </a:r>
          </a:p>
          <a:p>
            <a:pPr/>
            <a:r>
              <a:rPr b="1"/>
              <a:t>Compare directly with the normal opposite side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a labeled scanning-technique diagram.</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Normal Cortex vs. Fracture</a:t>
            </a:r>
          </a:p>
        </p:txBody>
      </p:sp>
      <p:sp>
        <p:nvSpPr>
          <p:cNvPr id="3" name="Rectangle 2"/>
          <p:cNvSpPr/>
          <p:nvPr/>
        </p:nvSpPr>
        <p:spPr>
          <a:xfrm>
            <a:off x="2194560" y="1783080"/>
            <a:ext cx="7772400" cy="4023360"/>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377440" y="1874519"/>
            <a:ext cx="3566160" cy="365760"/>
          </a:xfrm>
          <a:prstGeom prst="rect">
            <a:avLst/>
          </a:prstGeom>
          <a:noFill/>
        </p:spPr>
        <p:txBody>
          <a:bodyPr wrap="none">
            <a:spAutoFit/>
          </a:bodyPr>
          <a:lstStyle/>
          <a:p>
            <a:pPr algn="ctr"/>
            <a:r>
              <a:rPr b="1" sz="1600">
                <a:solidFill>
                  <a:srgbClr val="FFFFFF"/>
                </a:solidFill>
              </a:rPr>
              <a:t>NORMAL</a:t>
            </a:r>
          </a:p>
        </p:txBody>
      </p:sp>
      <p:sp>
        <p:nvSpPr>
          <p:cNvPr id="5" name="Rounded Rectangle 4"/>
          <p:cNvSpPr/>
          <p:nvPr/>
        </p:nvSpPr>
        <p:spPr>
          <a:xfrm>
            <a:off x="2468880" y="3566160"/>
            <a:ext cx="3291840" cy="1463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68880" y="3794760"/>
            <a:ext cx="3291840" cy="365760"/>
          </a:xfrm>
          <a:prstGeom prst="rect">
            <a:avLst/>
          </a:prstGeom>
          <a:noFill/>
        </p:spPr>
        <p:txBody>
          <a:bodyPr wrap="none">
            <a:spAutoFit/>
          </a:bodyPr>
          <a:lstStyle/>
          <a:p>
            <a:pPr algn="ctr"/>
            <a:r>
              <a:rPr sz="1100">
                <a:solidFill>
                  <a:srgbClr val="F2C811"/>
                </a:solidFill>
              </a:rPr>
              <a:t>Smooth, continuous hyperechoic cortex</a:t>
            </a:r>
          </a:p>
        </p:txBody>
      </p:sp>
      <p:sp>
        <p:nvSpPr>
          <p:cNvPr id="7" name="TextBox 6"/>
          <p:cNvSpPr txBox="1"/>
          <p:nvPr/>
        </p:nvSpPr>
        <p:spPr>
          <a:xfrm>
            <a:off x="6217920" y="1874519"/>
            <a:ext cx="3566160" cy="365760"/>
          </a:xfrm>
          <a:prstGeom prst="rect">
            <a:avLst/>
          </a:prstGeom>
          <a:noFill/>
        </p:spPr>
        <p:txBody>
          <a:bodyPr wrap="none">
            <a:spAutoFit/>
          </a:bodyPr>
          <a:lstStyle/>
          <a:p>
            <a:pPr algn="ctr"/>
            <a:r>
              <a:rPr b="1" sz="1600">
                <a:solidFill>
                  <a:srgbClr val="E97132"/>
                </a:solidFill>
              </a:rPr>
              <a:t>FRACTURE</a:t>
            </a:r>
          </a:p>
        </p:txBody>
      </p:sp>
      <p:sp>
        <p:nvSpPr>
          <p:cNvPr id="8" name="Rounded Rectangle 7"/>
          <p:cNvSpPr/>
          <p:nvPr/>
        </p:nvSpPr>
        <p:spPr>
          <a:xfrm>
            <a:off x="6309360" y="3657600"/>
            <a:ext cx="1463040" cy="1463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955279" y="3429000"/>
            <a:ext cx="1554480" cy="1463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498079" y="2880360"/>
            <a:ext cx="1097280" cy="502920"/>
          </a:xfrm>
          <a:prstGeom prst="ellipse">
            <a:avLst/>
          </a:prstGeom>
          <a:solidFill>
            <a:srgbClr val="303030"/>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3886200"/>
            <a:ext cx="3291840" cy="640080"/>
          </a:xfrm>
          <a:prstGeom prst="rect">
            <a:avLst/>
          </a:prstGeom>
          <a:noFill/>
        </p:spPr>
        <p:txBody>
          <a:bodyPr wrap="square">
            <a:spAutoFit/>
          </a:bodyPr>
          <a:lstStyle/>
          <a:p>
            <a:pPr algn="ctr"/>
            <a:r>
              <a:rPr sz="1100">
                <a:solidFill>
                  <a:srgbClr val="E97132"/>
                </a:solidFill>
              </a:rPr>
              <a:t>Cortical step-off / disruption</a:t>
            </a:r>
          </a:p>
          <a:p>
            <a:pPr algn="ctr"/>
            <a:r>
              <a:rPr sz="1100">
                <a:solidFill>
                  <a:srgbClr val="F2C811"/>
                </a:solidFill>
              </a:rPr>
              <a:t>Overlying periosteal hematoma (hypoechoic)</a:t>
            </a:r>
          </a:p>
        </p:txBody>
      </p:sp>
      <p:sp>
        <p:nvSpPr>
          <p:cNvPr id="12" name="Rounded Rectangle 11"/>
          <p:cNvSpPr/>
          <p:nvPr/>
        </p:nvSpPr>
        <p:spPr>
          <a:xfrm>
            <a:off x="640080" y="1828800"/>
            <a:ext cx="1737360" cy="384048"/>
          </a:xfrm>
          <a:prstGeom prst="round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b="1" sz="1400">
                <a:solidFill>
                  <a:srgbClr val="FFFFFF"/>
                </a:solidFill>
              </a:rPr>
              <a:t>COMPARE</a:t>
            </a:r>
          </a:p>
        </p:txBody>
      </p:sp>
      <p:sp>
        <p:nvSpPr>
          <p:cNvPr id="13" name="TextBox 12"/>
          <p:cNvSpPr txBox="1"/>
          <p:nvPr/>
        </p:nvSpPr>
        <p:spPr>
          <a:xfrm>
            <a:off x="2011680" y="6053328"/>
            <a:ext cx="8138160" cy="457200"/>
          </a:xfrm>
          <a:prstGeom prst="rect">
            <a:avLst/>
          </a:prstGeom>
          <a:noFill/>
        </p:spPr>
        <p:txBody>
          <a:bodyPr wrap="square">
            <a:spAutoFit/>
          </a:bodyPr>
          <a:lstStyle/>
          <a:p>
            <a:pPr algn="ctr"/>
            <a:r>
              <a:rPr sz="900" i="1">
                <a:solidFill>
                  <a:srgbClr val="595959"/>
                </a:solidFill>
              </a:rPr>
              <a:t>Schematic for teaching – embed your own paired clips on the following slide.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paired NORMAL vs FRACTURE clips (ideally the injured and contralateral side).</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Pearls &amp; Pitfalls</a:t>
            </a:r>
          </a:p>
        </p:txBody>
      </p:sp>
      <p:sp>
        <p:nvSpPr>
          <p:cNvPr id="3" name="Content Placeholder 2"/>
          <p:cNvSpPr>
            <a:spLocks noGrp="1"/>
          </p:cNvSpPr>
          <p:nvPr>
            <p:ph idx="1"/>
          </p:nvPr>
        </p:nvSpPr>
        <p:spPr/>
        <p:txBody>
          <a:bodyPr wrap="square"/>
          <a:lstStyle/>
          <a:p>
            <a:pPr/>
            <a:r>
              <a:rPr b="1"/>
              <a:t>Pearls</a:t>
            </a:r>
          </a:p>
          <a:p>
            <a:pPr lvl="1"/>
            <a:r>
              <a:t>Two findings: cortical step-off + periosteal hematoma</a:t>
            </a:r>
          </a:p>
          <a:p>
            <a:pPr lvl="1"/>
            <a:r>
              <a:t>Always scan 2 planes and compare to the other side</a:t>
            </a:r>
          </a:p>
          <a:p>
            <a:pPr lvl="1"/>
            <a:r>
              <a:t>Great for guiding fascia iliaca / femoral nerve blocks</a:t>
            </a:r>
          </a:p>
          <a:p>
            <a:pPr/>
            <a:r>
              <a:rPr b="1"/>
              <a:t>Pitfalls</a:t>
            </a:r>
          </a:p>
          <a:p>
            <a:pPr lvl="1"/>
            <a:r>
              <a:t>Open growth plates / ossification centers mimic fractures – compare sides</a:t>
            </a:r>
          </a:p>
          <a:p>
            <a:pPr lvl="1"/>
            <a:r>
              <a:t>Cannot assess intra-articular extension or fully classify the fracture</a:t>
            </a:r>
          </a:p>
          <a:p>
            <a:pPr lvl="1"/>
            <a:r>
              <a:t>Does not replace plain films for definitive management/orthopedic planning</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your take-home summary slide.</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Pneumothorax</a:t>
            </a:r>
          </a:p>
        </p:txBody>
      </p:sp>
      <p:sp>
        <p:nvSpPr>
          <p:cNvPr id="3" name="Text Placeholder 2"/>
          <p:cNvSpPr>
            <a:spLocks noGrp="1"/>
          </p:cNvSpPr>
          <p:nvPr>
            <p:ph type="body" idx="1"/>
          </p:nvPr>
        </p:nvSpPr>
        <p:spPr/>
        <p:txBody>
          <a:bodyPr/>
          <a:lstStyle/>
          <a:p>
            <a:r>
              <a:t>Lung POCUS for pleural air</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16-year-old with sudden chest pain &amp; dyspnea</a:t>
            </a:r>
          </a:p>
        </p:txBody>
      </p:sp>
      <p:sp>
        <p:nvSpPr>
          <p:cNvPr id="3" name="Content Placeholder 2"/>
          <p:cNvSpPr>
            <a:spLocks noGrp="1"/>
          </p:cNvSpPr>
          <p:nvPr>
            <p:ph idx="1"/>
          </p:nvPr>
        </p:nvSpPr>
        <p:spPr/>
        <p:txBody>
          <a:bodyPr wrap="square"/>
          <a:lstStyle/>
          <a:p>
            <a:pPr/>
            <a:r>
              <a:rPr b="1"/>
              <a:t>Scenario A – Trauma</a:t>
            </a:r>
          </a:p>
          <a:p>
            <a:pPr lvl="1"/>
            <a:r>
              <a:t>Blunt chest trauma, now dyspneic and hypoxic (E-FAST)</a:t>
            </a:r>
          </a:p>
          <a:p>
            <a:pPr/>
            <a:r>
              <a:rPr b="1"/>
              <a:t>Scenario B – Spontaneous</a:t>
            </a:r>
          </a:p>
          <a:p>
            <a:pPr lvl="1"/>
            <a:r>
              <a:t>Tall, thin teen with sudden pleuritic pain and breathlessness</a:t>
            </a:r>
          </a:p>
          <a:p>
            <a:pPr/>
            <a:r>
              <a:rPr b="1"/>
              <a:t>Other settings</a:t>
            </a:r>
          </a:p>
          <a:p>
            <a:pPr lvl="1"/>
            <a:r>
              <a:t>Post-procedure (central line, thoracentesis, biopsy)</a:t>
            </a:r>
          </a:p>
          <a:p>
            <a:pPr lvl="1"/>
            <a:r>
              <a:t>Unexplained hypoxia or decreased breath sounds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a clinical photo, CXR, or the E-FAST sequence.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Indications for Lung POCUS (Pneumothorax)</a:t>
            </a:r>
          </a:p>
        </p:txBody>
      </p:sp>
      <p:sp>
        <p:nvSpPr>
          <p:cNvPr id="3" name="Content Placeholder 2"/>
          <p:cNvSpPr>
            <a:spLocks noGrp="1"/>
          </p:cNvSpPr>
          <p:nvPr>
            <p:ph idx="1"/>
          </p:nvPr>
        </p:nvSpPr>
        <p:spPr/>
        <p:txBody>
          <a:bodyPr wrap="square"/>
          <a:lstStyle/>
          <a:p>
            <a:pPr/>
            <a:r>
              <a:rPr b="1"/>
              <a:t>Chest trauma – E-FAST</a:t>
            </a:r>
          </a:p>
          <a:p>
            <a:pPr/>
            <a:r>
              <a:rPr b="1"/>
              <a:t>Acute dyspnea or pleuritic chest pain</a:t>
            </a:r>
          </a:p>
          <a:p>
            <a:pPr/>
            <a:r>
              <a:rPr b="1"/>
              <a:t>Post-procedure surveillance (lines, thoracentesis, biopsy)</a:t>
            </a:r>
          </a:p>
          <a:p>
            <a:pPr/>
            <a:r>
              <a:rPr b="1"/>
              <a:t>Unexplained hypoxia or unilateral decreased breath sounds</a:t>
            </a:r>
          </a:p>
          <a:p>
            <a:pPr/>
            <a:r>
              <a:rPr b="1"/>
              <a:t>Sudden decompensation on the ventilator</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an E-FAST scan-points diagram.</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 Up For Success</a:t>
            </a:r>
          </a:p>
        </p:txBody>
      </p:sp>
      <p:sp>
        <p:nvSpPr>
          <p:cNvPr id="3" name="Content Placeholder 2"/>
          <p:cNvSpPr>
            <a:spLocks noGrp="1"/>
          </p:cNvSpPr>
          <p:nvPr>
            <p:ph idx="1" sz="half"/>
          </p:nvPr>
        </p:nvSpPr>
        <p:spPr/>
        <p:txBody>
          <a:bodyPr wrap="square"/>
          <a:lstStyle/>
          <a:p>
            <a:pPr/>
            <a:r>
              <a:rPr b="1"/>
              <a:t>Transducer: Linear high-frequency (pleural detail)</a:t>
            </a:r>
          </a:p>
          <a:p>
            <a:pPr lvl="1"/>
            <a:r>
              <a:t>Phased/curvilinear to survey deeper or multiple zones</a:t>
            </a:r>
          </a:p>
          <a:p>
            <a:pPr/>
            <a:r>
              <a:rPr b="1"/>
              <a:t>Preset: Lung</a:t>
            </a:r>
          </a:p>
          <a:p>
            <a:pPr/>
            <a:r>
              <a:rPr b="1"/>
              <a:t>Patient Position: SUPINE</a:t>
            </a:r>
          </a:p>
          <a:p>
            <a:pPr lvl="1"/>
            <a:r>
              <a:t>Air rises → collects at the least-dependent (anterior) chest</a:t>
            </a:r>
          </a:p>
        </p:txBody>
      </p:sp>
      <p:sp>
        <p:nvSpPr>
          <p:cNvPr id="4" name="Content Placeholder 3"/>
          <p:cNvSpPr>
            <a:spLocks noGrp="1"/>
          </p:cNvSpPr>
          <p:nvPr>
            <p:ph idx="2" sz="half"/>
          </p:nvPr>
        </p:nvSpPr>
        <p:spPr/>
        <p:txBody>
          <a:bodyPr wrap="square"/>
          <a:lstStyle/>
          <a:p>
            <a:pPr/>
            <a:r>
              <a:rPr b="1"/>
              <a:t>Tips</a:t>
            </a:r>
          </a:p>
          <a:p>
            <a:pPr lvl="1"/>
            <a:r>
              <a:t>Scan the most anterior point: 2nd–4th intercostal space, midclavicular line</a:t>
            </a:r>
          </a:p>
          <a:p>
            <a:pPr lvl="1"/>
            <a:r>
              <a:t>Probe longitudinal, marker to the head – find the “bat sign”</a:t>
            </a:r>
          </a:p>
          <a:p>
            <a:pPr lvl="1"/>
            <a:r>
              <a:t>Center the pleural line between two ribs</a:t>
            </a:r>
          </a:p>
          <a:p>
            <a:pPr lvl="1"/>
            <a:r>
              <a:t>Then use M-mode through the pleura</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a probe-position photo and the bat-sign image.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Signs – What Rules PTX In vs Out</a:t>
            </a:r>
          </a:p>
        </p:txBody>
      </p:sp>
      <p:sp>
        <p:nvSpPr>
          <p:cNvPr id="3" name="Content Placeholder 2"/>
          <p:cNvSpPr>
            <a:spLocks noGrp="1"/>
          </p:cNvSpPr>
          <p:nvPr>
            <p:ph idx="1"/>
          </p:nvPr>
        </p:nvSpPr>
        <p:spPr/>
        <p:txBody>
          <a:bodyPr wrap="square"/>
          <a:lstStyle/>
          <a:p>
            <a:pPr/>
            <a:r>
              <a:rPr b="1"/>
              <a:t>Findings that EXCLUDE PTX at that spot</a:t>
            </a:r>
          </a:p>
          <a:p>
            <a:pPr lvl="1"/>
            <a:r>
              <a:t>Lung sliding (shimmering pleura)</a:t>
            </a:r>
          </a:p>
          <a:p>
            <a:pPr lvl="1"/>
            <a:r>
              <a:t>B-lines (arise from pleura, need both layers apposed)</a:t>
            </a:r>
          </a:p>
          <a:p>
            <a:pPr lvl="1"/>
            <a:r>
              <a:t>Lung pulse; “seashore sign” on M-mode</a:t>
            </a:r>
          </a:p>
          <a:p>
            <a:pPr/>
            <a:r>
              <a:rPr b="1"/>
              <a:t>Findings that SUGGEST PTX</a:t>
            </a:r>
          </a:p>
          <a:p>
            <a:pPr lvl="1"/>
            <a:r>
              <a:t>Absent lung sliding</a:t>
            </a:r>
          </a:p>
          <a:p>
            <a:pPr lvl="1"/>
            <a:r>
              <a:t>“Barcode / stratosphere sign” on M-mode</a:t>
            </a:r>
          </a:p>
          <a:p>
            <a:pPr/>
            <a:r>
              <a:rPr b="1"/>
              <a:t>The confirmatory sign</a:t>
            </a:r>
          </a:p>
          <a:p>
            <a:pPr lvl="1"/>
            <a:r>
              <a:t>“Lung point” – transition from sliding to no-sliding (highly specific)</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a side-by-side seashore vs barcode reference.</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Normal Lung – Sliding &amp; Seashore Sign</a:t>
            </a:r>
          </a:p>
        </p:txBody>
      </p:sp>
      <p:pic>
        <p:nvPicPr>
          <p:cNvPr id="3" name="Picture 2" descr="lung_seashore.jpg"/>
          <p:cNvPicPr>
            <a:picLocks noChangeAspect="1"/>
          </p:cNvPicPr>
          <p:nvPr/>
        </p:nvPicPr>
        <p:blipFill>
          <a:blip r:embed="rId2"/>
          <a:stretch>
            <a:fillRect/>
          </a:stretch>
        </p:blipFill>
        <p:spPr>
          <a:xfrm>
            <a:off x="2179320" y="1691640"/>
            <a:ext cx="7802880" cy="4297680"/>
          </a:xfrm>
          <a:prstGeom prst="rect">
            <a:avLst/>
          </a:prstGeom>
        </p:spPr>
      </p:pic>
      <p:sp>
        <p:nvSpPr>
          <p:cNvPr id="4" name="Rounded Rectangle 3"/>
          <p:cNvSpPr/>
          <p:nvPr/>
        </p:nvSpPr>
        <p:spPr>
          <a:xfrm>
            <a:off x="640080" y="1828800"/>
            <a:ext cx="1737360" cy="384048"/>
          </a:xfrm>
          <a:prstGeom prst="round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b="1" sz="1400">
                <a:solidFill>
                  <a:srgbClr val="FFFFFF"/>
                </a:solidFill>
              </a:rPr>
              <a:t>NORMAL</a:t>
            </a:r>
          </a:p>
        </p:txBody>
      </p:sp>
      <p:sp>
        <p:nvSpPr>
          <p:cNvPr id="5" name="TextBox 4"/>
          <p:cNvSpPr txBox="1"/>
          <p:nvPr/>
        </p:nvSpPr>
        <p:spPr>
          <a:xfrm>
            <a:off x="2011680" y="6053328"/>
            <a:ext cx="8138160" cy="457200"/>
          </a:xfrm>
          <a:prstGeom prst="rect">
            <a:avLst/>
          </a:prstGeom>
          <a:noFill/>
        </p:spPr>
        <p:txBody>
          <a:bodyPr wrap="square">
            <a:spAutoFit/>
          </a:bodyPr>
          <a:lstStyle/>
          <a:p>
            <a:pPr algn="ctr"/>
            <a:r>
              <a:rPr sz="900" i="1">
                <a:solidFill>
                  <a:srgbClr val="595959"/>
                </a:solidFill>
              </a:rPr>
              <a:t>2D pleural line with A-lines (top) and M-mode “seashore sign” (bottom) – normal lung sliding. User:Tinss, Wikimedia Commons, CC BY-SA 4.0.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your own NORMAL lung-sliding cine + M-mode seashore.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Pathology – Pneumothorax (Barcode Sign)</a:t>
            </a:r>
          </a:p>
        </p:txBody>
      </p:sp>
      <p:pic>
        <p:nvPicPr>
          <p:cNvPr id="3" name="Picture 2" descr="pneumo_barcode.jpg"/>
          <p:cNvPicPr>
            <a:picLocks noChangeAspect="1"/>
          </p:cNvPicPr>
          <p:nvPr/>
        </p:nvPicPr>
        <p:blipFill>
          <a:blip r:embed="rId2"/>
          <a:stretch>
            <a:fillRect/>
          </a:stretch>
        </p:blipFill>
        <p:spPr>
          <a:xfrm>
            <a:off x="4752424" y="1691640"/>
            <a:ext cx="2656671" cy="4297680"/>
          </a:xfrm>
          <a:prstGeom prst="rect">
            <a:avLst/>
          </a:prstGeom>
        </p:spPr>
      </p:pic>
      <p:sp>
        <p:nvSpPr>
          <p:cNvPr id="4" name="Rounded Rectangle 3"/>
          <p:cNvSpPr/>
          <p:nvPr/>
        </p:nvSpPr>
        <p:spPr>
          <a:xfrm>
            <a:off x="640080" y="1828800"/>
            <a:ext cx="1737360" cy="384048"/>
          </a:xfrm>
          <a:prstGeom prst="round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b="1" sz="1400">
                <a:solidFill>
                  <a:srgbClr val="FFFFFF"/>
                </a:solidFill>
              </a:rPr>
              <a:t>PNEUMOTHORAX</a:t>
            </a:r>
          </a:p>
        </p:txBody>
      </p:sp>
      <p:sp>
        <p:nvSpPr>
          <p:cNvPr id="5" name="TextBox 4"/>
          <p:cNvSpPr txBox="1"/>
          <p:nvPr/>
        </p:nvSpPr>
        <p:spPr>
          <a:xfrm>
            <a:off x="2011680" y="6053328"/>
            <a:ext cx="8138160" cy="457200"/>
          </a:xfrm>
          <a:prstGeom prst="rect">
            <a:avLst/>
          </a:prstGeom>
          <a:noFill/>
        </p:spPr>
        <p:txBody>
          <a:bodyPr wrap="square">
            <a:spAutoFit/>
          </a:bodyPr>
          <a:lstStyle/>
          <a:p>
            <a:pPr algn="ctr"/>
            <a:r>
              <a:rPr sz="900" i="1">
                <a:solidFill>
                  <a:srgbClr val="595959"/>
                </a:solidFill>
              </a:rPr>
              <a:t>M-mode “barcode / stratosphere sign” (no sliding) over 2D. iEM Education Project / A. Cevik, Flickr, CC BY-NC-SA 2.0.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your own PTX clip (absent sliding, barcode, and a lung point if present).</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 Contrast – B-lines (Pleura Apposed)</a:t>
            </a:r>
          </a:p>
        </p:txBody>
      </p:sp>
      <p:pic>
        <p:nvPicPr>
          <p:cNvPr id="3" name="Picture 2" descr="lung_blines.jpg"/>
          <p:cNvPicPr>
            <a:picLocks noChangeAspect="1"/>
          </p:cNvPicPr>
          <p:nvPr/>
        </p:nvPicPr>
        <p:blipFill>
          <a:blip r:embed="rId2"/>
          <a:stretch>
            <a:fillRect/>
          </a:stretch>
        </p:blipFill>
        <p:spPr>
          <a:xfrm>
            <a:off x="2179320" y="1691640"/>
            <a:ext cx="7802880" cy="4297680"/>
          </a:xfrm>
          <a:prstGeom prst="rect">
            <a:avLst/>
          </a:prstGeom>
        </p:spPr>
      </p:pic>
      <p:sp>
        <p:nvSpPr>
          <p:cNvPr id="4" name="Rounded Rectangle 3"/>
          <p:cNvSpPr/>
          <p:nvPr/>
        </p:nvSpPr>
        <p:spPr>
          <a:xfrm>
            <a:off x="640080" y="1828800"/>
            <a:ext cx="1737360" cy="384048"/>
          </a:xfrm>
          <a:prstGeom prst="round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b="1" sz="1400">
                <a:solidFill>
                  <a:srgbClr val="FFFFFF"/>
                </a:solidFill>
              </a:rPr>
              <a:t>B-LINES</a:t>
            </a:r>
          </a:p>
        </p:txBody>
      </p:sp>
      <p:sp>
        <p:nvSpPr>
          <p:cNvPr id="5" name="TextBox 4"/>
          <p:cNvSpPr txBox="1"/>
          <p:nvPr/>
        </p:nvSpPr>
        <p:spPr>
          <a:xfrm>
            <a:off x="2011680" y="6053328"/>
            <a:ext cx="8138160" cy="457200"/>
          </a:xfrm>
          <a:prstGeom prst="rect">
            <a:avLst/>
          </a:prstGeom>
          <a:noFill/>
        </p:spPr>
        <p:txBody>
          <a:bodyPr wrap="square">
            <a:spAutoFit/>
          </a:bodyPr>
          <a:lstStyle/>
          <a:p>
            <a:pPr algn="ctr"/>
            <a:r>
              <a:rPr sz="900" i="1">
                <a:solidFill>
                  <a:srgbClr val="595959"/>
                </a:solidFill>
              </a:rPr>
              <a:t>Vertical B-lines arising from the pleural line – their presence excludes PTX at that spot (here, interstitial fluid). User:Tinss, Wikimedia Commons, CC BY-SA 4.0.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your own B-line clip for teaching contrast.</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Pearls &amp; Pitfalls</a:t>
            </a:r>
          </a:p>
        </p:txBody>
      </p:sp>
      <p:sp>
        <p:nvSpPr>
          <p:cNvPr id="3" name="Content Placeholder 2"/>
          <p:cNvSpPr>
            <a:spLocks noGrp="1"/>
          </p:cNvSpPr>
          <p:nvPr>
            <p:ph idx="1"/>
          </p:nvPr>
        </p:nvSpPr>
        <p:spPr/>
        <p:txBody>
          <a:bodyPr wrap="square"/>
          <a:lstStyle/>
          <a:p>
            <a:pPr/>
            <a:r>
              <a:rPr b="1"/>
              <a:t>Pearls</a:t>
            </a:r>
          </a:p>
          <a:p>
            <a:pPr lvl="1"/>
            <a:r>
              <a:t>Sliding, B-lines, or lung pulse → NO pneumothorax at that spot</a:t>
            </a:r>
          </a:p>
          <a:p>
            <a:pPr lvl="1"/>
            <a:r>
              <a:t>Lung point = ~100% specific and estimates size</a:t>
            </a:r>
          </a:p>
          <a:p>
            <a:pPr lvl="1"/>
            <a:r>
              <a:t>POCUS Sn (~90%) &gt;&gt; supine CXR (~50%)</a:t>
            </a:r>
          </a:p>
          <a:p>
            <a:pPr/>
            <a:r>
              <a:rPr b="1"/>
              <a:t>Pitfalls</a:t>
            </a:r>
          </a:p>
          <a:p>
            <a:pPr lvl="1"/>
            <a:r>
              <a:t>Absent sliding is sensitive but NOT specific (mainstem intubation, blebs, ARDS, apnea, adhesions)</a:t>
            </a:r>
          </a:p>
          <a:p>
            <a:pPr lvl="1"/>
            <a:r>
              <a:t>No lung point in a large/complete PTX</a:t>
            </a:r>
          </a:p>
          <a:p>
            <a:pPr lvl="1"/>
            <a:r>
              <a:t>Subcutaneous emphysema obscures the pleura</a:t>
            </a:r>
          </a:p>
          <a:p>
            <a:pPr/>
            <a:r>
              <a:rPr b="1"/>
              <a:t>Treat tension pneumothorax clinically – do not delay for imaging</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your take-home summary graphic.</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Constipation</a:t>
            </a:r>
          </a:p>
        </p:txBody>
      </p:sp>
      <p:sp>
        <p:nvSpPr>
          <p:cNvPr id="3" name="Text Placeholder 2"/>
          <p:cNvSpPr>
            <a:spLocks noGrp="1"/>
          </p:cNvSpPr>
          <p:nvPr>
            <p:ph type="body" idx="1"/>
          </p:nvPr>
        </p:nvSpPr>
        <p:spPr/>
        <p:txBody>
          <a:bodyPr/>
          <a:lstStyle/>
          <a:p>
            <a:r>
              <a:t>Transrectal Diameter (TRD) on POCUS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6-year-old with recurrent abdominal pain</a:t>
            </a:r>
          </a:p>
        </p:txBody>
      </p:sp>
      <p:sp>
        <p:nvSpPr>
          <p:cNvPr id="3" name="Content Placeholder 2"/>
          <p:cNvSpPr>
            <a:spLocks noGrp="1"/>
          </p:cNvSpPr>
          <p:nvPr>
            <p:ph idx="1"/>
          </p:nvPr>
        </p:nvSpPr>
        <p:spPr/>
        <p:txBody>
          <a:bodyPr wrap="square"/>
          <a:lstStyle/>
          <a:p>
            <a:pPr/>
            <a:r>
              <a:rPr b="1"/>
              <a:t>History</a:t>
            </a:r>
          </a:p>
          <a:p>
            <a:pPr lvl="1"/>
            <a:r>
              <a:t>Weeks of intermittent crampy peri-umbilical/LLQ pain</a:t>
            </a:r>
          </a:p>
          <a:p>
            <a:pPr lvl="1"/>
            <a:r>
              <a:t>Hard, infrequent stools; occasional withholding</a:t>
            </a:r>
          </a:p>
          <a:p>
            <a:pPr lvl="1"/>
            <a:r>
              <a:t>No red flags (no bilious vomiting, weight loss, or blood)</a:t>
            </a:r>
          </a:p>
          <a:p>
            <a:pPr/>
            <a:r>
              <a:rPr b="1"/>
              <a:t>Exam</a:t>
            </a:r>
          </a:p>
          <a:p>
            <a:pPr lvl="1"/>
            <a:r>
              <a:t>Soft abdomen, possible palpable LLQ stool</a:t>
            </a:r>
          </a:p>
          <a:p>
            <a:pPr lvl="1"/>
            <a:r>
              <a:t>Avoid the digital rectal exam – uncomfortable &amp; low-yield</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a clinical vignette graphic or the Rome IV criteria.</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Indications for TRD POCUS</a:t>
            </a:r>
          </a:p>
        </p:txBody>
      </p:sp>
      <p:sp>
        <p:nvSpPr>
          <p:cNvPr id="3" name="Content Placeholder 2"/>
          <p:cNvSpPr>
            <a:spLocks noGrp="1"/>
          </p:cNvSpPr>
          <p:nvPr>
            <p:ph idx="1"/>
          </p:nvPr>
        </p:nvSpPr>
        <p:spPr/>
        <p:txBody>
          <a:bodyPr wrap="square"/>
          <a:lstStyle/>
          <a:p>
            <a:pPr/>
            <a:r>
              <a:rPr b="1"/>
              <a:t>Suspected functional constipation as a cause of abdominal pain</a:t>
            </a:r>
          </a:p>
          <a:p>
            <a:pPr/>
            <a:r>
              <a:rPr b="1"/>
              <a:t>Objective bedside data without radiation or a rectal exam</a:t>
            </a:r>
          </a:p>
          <a:p>
            <a:pPr/>
            <a:r>
              <a:rPr b="1"/>
              <a:t>To support avoiding an abdominal radiograph</a:t>
            </a:r>
          </a:p>
          <a:p>
            <a:pPr/>
            <a:r>
              <a:rPr b="1"/>
              <a:t>Track response after disimpaction / enema</a:t>
            </a:r>
          </a:p>
          <a:p>
            <a:pPr/>
            <a:r>
              <a:rPr b="1"/>
              <a:t>Reference: Doniger et al., Pediatr Emerg Care 2018</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the reference citation or study abstract image.</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 Up For Success</a:t>
            </a:r>
          </a:p>
        </p:txBody>
      </p:sp>
      <p:sp>
        <p:nvSpPr>
          <p:cNvPr id="3" name="Content Placeholder 2"/>
          <p:cNvSpPr>
            <a:spLocks noGrp="1"/>
          </p:cNvSpPr>
          <p:nvPr>
            <p:ph idx="1" sz="half"/>
          </p:nvPr>
        </p:nvSpPr>
        <p:spPr/>
        <p:txBody>
          <a:bodyPr wrap="square"/>
          <a:lstStyle/>
          <a:p>
            <a:pPr/>
            <a:r>
              <a:rPr b="1"/>
              <a:t>Transducer: Phased array 5–1 MHz (per study)</a:t>
            </a:r>
          </a:p>
          <a:p>
            <a:pPr lvl="1"/>
            <a:r>
              <a:t>Curvilinear also works well</a:t>
            </a:r>
          </a:p>
          <a:p>
            <a:pPr/>
            <a:r>
              <a:rPr b="1"/>
              <a:t>Preset: Abdomen</a:t>
            </a:r>
          </a:p>
          <a:p>
            <a:pPr/>
            <a:r>
              <a:rPr b="1"/>
              <a:t>Patient Position: Supine</a:t>
            </a:r>
          </a:p>
          <a:p>
            <a:pPr lvl="1"/>
            <a:r>
              <a:t>Bladder does NOT need to be full</a:t>
            </a:r>
          </a:p>
        </p:txBody>
      </p:sp>
      <p:sp>
        <p:nvSpPr>
          <p:cNvPr id="4" name="Content Placeholder 3"/>
          <p:cNvSpPr>
            <a:spLocks noGrp="1"/>
          </p:cNvSpPr>
          <p:nvPr>
            <p:ph idx="2" sz="half"/>
          </p:nvPr>
        </p:nvSpPr>
        <p:spPr/>
        <p:txBody>
          <a:bodyPr wrap="square"/>
          <a:lstStyle/>
          <a:p>
            <a:pPr/>
            <a:r>
              <a:rPr b="1"/>
              <a:t>Tips</a:t>
            </a:r>
          </a:p>
          <a:p>
            <a:pPr lvl="1"/>
            <a:r>
              <a:t>Probe ~2 cm above the pubic symphysis</a:t>
            </a:r>
          </a:p>
          <a:p>
            <a:pPr lvl="1"/>
            <a:r>
              <a:t>Angle 15° caudad (downward) from the transverse plane</a:t>
            </a:r>
          </a:p>
          <a:p>
            <a:pPr lvl="1"/>
            <a:r>
              <a:t>Indicator to the patient’s right</a:t>
            </a:r>
          </a:p>
          <a:p>
            <a:pPr lvl="1"/>
            <a:r>
              <a:t>Use the bladder as your acoustic window</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a probe-placement photo (suprapubic, 15° caudal).</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Technique – Measuring the TRD</a:t>
            </a:r>
          </a:p>
        </p:txBody>
      </p:sp>
      <p:sp>
        <p:nvSpPr>
          <p:cNvPr id="3" name="Content Placeholder 2"/>
          <p:cNvSpPr>
            <a:spLocks noGrp="1"/>
          </p:cNvSpPr>
          <p:nvPr>
            <p:ph idx="1"/>
          </p:nvPr>
        </p:nvSpPr>
        <p:spPr/>
        <p:txBody>
          <a:bodyPr wrap="square"/>
          <a:lstStyle/>
          <a:p>
            <a:pPr/>
            <a:r>
              <a:rPr b="1"/>
              <a:t>Find the bladder in the transverse view</a:t>
            </a:r>
          </a:p>
          <a:p>
            <a:pPr/>
            <a:r>
              <a:rPr b="1"/>
              <a:t>Identify the rectum POSTERIOR to the bladder</a:t>
            </a:r>
          </a:p>
          <a:p>
            <a:pPr lvl="1"/>
            <a:r>
              <a:t>Hyperechoic crescent with posterior shadowing</a:t>
            </a:r>
          </a:p>
          <a:p>
            <a:pPr/>
            <a:r>
              <a:rPr b="1"/>
              <a:t>Measure the transrectal diameter (TRD)</a:t>
            </a:r>
          </a:p>
          <a:p>
            <a:pPr lvl="1"/>
            <a:r>
              <a:t>Outer wall to outer wall, anterior–posterior</a:t>
            </a:r>
          </a:p>
          <a:p>
            <a:pPr lvl="1"/>
            <a:r>
              <a:t>Take TWO measurements and average them</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a labeled measurement still (bladder, rectal crescent, calipers).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Normal – Transverse Suprapubic Window</a:t>
            </a:r>
          </a:p>
        </p:txBody>
      </p:sp>
      <p:pic>
        <p:nvPicPr>
          <p:cNvPr id="3" name="Picture 2" descr="bladder_trans.jpg"/>
          <p:cNvPicPr>
            <a:picLocks noChangeAspect="1"/>
          </p:cNvPicPr>
          <p:nvPr/>
        </p:nvPicPr>
        <p:blipFill>
          <a:blip r:embed="rId2"/>
          <a:stretch>
            <a:fillRect/>
          </a:stretch>
        </p:blipFill>
        <p:spPr>
          <a:xfrm>
            <a:off x="2931769" y="1691640"/>
            <a:ext cx="6297982" cy="4297680"/>
          </a:xfrm>
          <a:prstGeom prst="rect">
            <a:avLst/>
          </a:prstGeom>
        </p:spPr>
      </p:pic>
      <p:sp>
        <p:nvSpPr>
          <p:cNvPr id="4" name="Rounded Rectangle 3"/>
          <p:cNvSpPr/>
          <p:nvPr/>
        </p:nvSpPr>
        <p:spPr>
          <a:xfrm>
            <a:off x="640080" y="1828800"/>
            <a:ext cx="1737360" cy="384048"/>
          </a:xfrm>
          <a:prstGeom prst="round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b="1" sz="1400">
                <a:solidFill>
                  <a:srgbClr val="FFFFFF"/>
                </a:solidFill>
              </a:rPr>
              <a:t>NORMAL</a:t>
            </a:r>
          </a:p>
        </p:txBody>
      </p:sp>
      <p:sp>
        <p:nvSpPr>
          <p:cNvPr id="5" name="TextBox 4"/>
          <p:cNvSpPr txBox="1"/>
          <p:nvPr/>
        </p:nvSpPr>
        <p:spPr>
          <a:xfrm>
            <a:off x="2011680" y="6053328"/>
            <a:ext cx="8138160" cy="457200"/>
          </a:xfrm>
          <a:prstGeom prst="rect">
            <a:avLst/>
          </a:prstGeom>
          <a:noFill/>
        </p:spPr>
        <p:txBody>
          <a:bodyPr wrap="square">
            <a:spAutoFit/>
          </a:bodyPr>
          <a:lstStyle/>
          <a:p>
            <a:pPr algn="ctr"/>
            <a:r>
              <a:rPr sz="900" i="1">
                <a:solidFill>
                  <a:srgbClr val="595959"/>
                </a:solidFill>
              </a:rPr>
              <a:t>Transverse suprapubic view; the anechoic bladder is the acoustic window. The rectum lies posterior (deep) to the bladder. Wikimedia Commons, CC BY-SA 3.0.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your own NORMAL TRD still (rectal crescent &lt; 3.8 cm).</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Pathology – Enlarged TRD (Constipation)</a:t>
            </a:r>
          </a:p>
        </p:txBody>
      </p:sp>
      <p:sp>
        <p:nvSpPr>
          <p:cNvPr id="3" name="Rounded Rectangle 2"/>
          <p:cNvSpPr/>
          <p:nvPr/>
        </p:nvSpPr>
        <p:spPr>
          <a:xfrm>
            <a:off x="640080" y="1828800"/>
            <a:ext cx="1737360" cy="384048"/>
          </a:xfrm>
          <a:prstGeom prst="round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b="1" sz="1400">
                <a:solidFill>
                  <a:srgbClr val="FFFFFF"/>
                </a:solidFill>
              </a:rPr>
              <a:t>CONSTIPATION</a:t>
            </a:r>
          </a:p>
        </p:txBody>
      </p:sp>
      <p:sp>
        <p:nvSpPr>
          <p:cNvPr id="4" name="TextBox 3"/>
          <p:cNvSpPr txBox="1"/>
          <p:nvPr/>
        </p:nvSpPr>
        <p:spPr>
          <a:xfrm>
            <a:off x="2011680" y="6053328"/>
            <a:ext cx="8138160" cy="457200"/>
          </a:xfrm>
          <a:prstGeom prst="rect">
            <a:avLst/>
          </a:prstGeom>
          <a:noFill/>
        </p:spPr>
        <p:txBody>
          <a:bodyPr wrap="square">
            <a:spAutoFit/>
          </a:bodyPr>
          <a:lstStyle/>
          <a:p>
            <a:pPr algn="ctr"/>
            <a:r>
              <a:rPr sz="900" i="1">
                <a:solidFill>
                  <a:srgbClr val="595959"/>
                </a:solidFill>
              </a:rPr>
              <a:t>Add your own constipated TRD clip on the next slide. Key number below.</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a constipated TRD still: dilated, stool-filled rectum with TRD ≥ 3.8 cm.</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Pearls &amp; Pitfalls</a:t>
            </a:r>
          </a:p>
        </p:txBody>
      </p:sp>
      <p:sp>
        <p:nvSpPr>
          <p:cNvPr id="3" name="Content Placeholder 2"/>
          <p:cNvSpPr>
            <a:spLocks noGrp="1"/>
          </p:cNvSpPr>
          <p:nvPr>
            <p:ph idx="1"/>
          </p:nvPr>
        </p:nvSpPr>
        <p:spPr/>
        <p:txBody>
          <a:bodyPr wrap="square"/>
          <a:lstStyle/>
          <a:p>
            <a:pPr/>
            <a:r>
              <a:rPr b="1"/>
              <a:t>The number to remember</a:t>
            </a:r>
          </a:p>
          <a:p>
            <a:pPr lvl="1"/>
            <a:r>
              <a:t>TRD ≥ 3.8 cm = constipation (Sn 86%, Sp 71%, NPV 0.87, PPV 0.70)</a:t>
            </a:r>
          </a:p>
          <a:p>
            <a:pPr/>
            <a:r>
              <a:rPr b="1"/>
              <a:t>Pearls</a:t>
            </a:r>
          </a:p>
          <a:p>
            <a:pPr lvl="1"/>
            <a:r>
              <a:t>Not affected by bladder fullness, age, height, or weight</a:t>
            </a:r>
          </a:p>
          <a:p>
            <a:pPr lvl="1"/>
            <a:r>
              <a:t>Fast (~1–4 min); avoids radiation and the rectal exam</a:t>
            </a:r>
          </a:p>
          <a:p>
            <a:pPr lvl="1"/>
            <a:r>
              <a:t>Could have avoided ~88% of abdominal radiographs in the study</a:t>
            </a:r>
          </a:p>
          <a:p>
            <a:pPr/>
            <a:r>
              <a:rPr b="1"/>
              <a:t>Pitfalls</a:t>
            </a:r>
          </a:p>
          <a:p>
            <a:pPr lvl="1"/>
            <a:r>
              <a:t>Modest specificity – correlate clinically</a:t>
            </a:r>
          </a:p>
          <a:p>
            <a:pPr lvl="1"/>
            <a:r>
              <a:t>Single-center data; one objective adjunct, not a stand-alone test</a:t>
            </a:r>
          </a:p>
          <a:p>
            <a:pPr lvl="1"/>
            <a:r>
              <a:t>Always exclude red-flag causes of abdominal pain</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Image</a:t>
            </a:r>
          </a:p>
        </p:txBody>
      </p:sp>
      <p:sp>
        <p:nvSpPr>
          <p:cNvPr id="3" name="Rounded Rectangle 2"/>
          <p:cNvSpPr/>
          <p:nvPr/>
        </p:nvSpPr>
        <p:spPr>
          <a:xfrm>
            <a:off x="1280160" y="1737360"/>
            <a:ext cx="9601200" cy="4480560"/>
          </a:xfrm>
          <a:prstGeom prst="roundRect">
            <a:avLst/>
          </a:prstGeom>
          <a:solidFill>
            <a:srgbClr val="F2F4F6"/>
          </a:solidFill>
          <a:ln w="25400">
            <a:solidFill>
              <a:srgbClr val="1560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156082"/>
                </a:solidFill>
              </a:rPr>
              <a:t>▢  Insert image / clip here</a:t>
            </a:r>
          </a:p>
          <a:p>
            <a:pPr algn="ctr"/>
            <a:r>
              <a:rPr sz="1500" i="1">
                <a:solidFill>
                  <a:srgbClr val="595959"/>
                </a:solidFill>
              </a:rPr>
              <a:t>Add your take-home summary slide.</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Image Credits &amp; Key References</a:t>
            </a:r>
          </a:p>
        </p:txBody>
      </p:sp>
      <p:sp>
        <p:nvSpPr>
          <p:cNvPr id="3" name="Content Placeholder 2"/>
          <p:cNvSpPr>
            <a:spLocks noGrp="1"/>
          </p:cNvSpPr>
          <p:nvPr>
            <p:ph idx="1"/>
          </p:nvPr>
        </p:nvSpPr>
        <p:spPr/>
        <p:txBody>
          <a:bodyPr wrap="square"/>
          <a:lstStyle/>
          <a:p>
            <a:pPr/>
            <a:r>
              <a:rPr b="1"/>
              <a:t>Embedded image credits</a:t>
            </a:r>
          </a:p>
          <a:p>
            <a:pPr lvl="1"/>
            <a:r>
              <a:t>SBO – “Keyboard sign” ileus: Hellerhoff, Wikimedia Commons, CC BY-SA 4.0</a:t>
            </a:r>
          </a:p>
          <a:p>
            <a:pPr lvl="1"/>
            <a:r>
              <a:t>Intussusception target: F. Gaillard, Radiopaedia via Commons, CC BY-SA 3.0</a:t>
            </a:r>
          </a:p>
          <a:p>
            <a:pPr lvl="1"/>
            <a:r>
              <a:t>Intussusception pseudokidney: User:Cerevisae, Commons, CC BY-SA 4.0</a:t>
            </a:r>
          </a:p>
          <a:p>
            <a:pPr lvl="1"/>
            <a:r>
              <a:t>Lung seashore &amp; B-lines: User:Tinss, Commons, CC BY-SA 4.0</a:t>
            </a:r>
          </a:p>
          <a:p>
            <a:pPr lvl="1"/>
            <a:r>
              <a:t>Pneumothorax barcode: iEM Education Project / A. Cevik, Flickr, CC BY-NC-SA 2.0</a:t>
            </a:r>
          </a:p>
          <a:p>
            <a:pPr lvl="1"/>
            <a:r>
              <a:t>Suprapubic bladder window: Wikimedia Commons, CC BY-SA 3.0</a:t>
            </a:r>
          </a:p>
          <a:p>
            <a:pPr/>
            <a:r>
              <a:rPr b="1"/>
              <a:t>Key reference</a:t>
            </a:r>
          </a:p>
          <a:p>
            <a:pPr lvl="1"/>
            <a:r>
              <a:t>Doniger SJ, Dessie A, Latronica C. Measuring the Transrectal Diameter on POCUS to Diagnose Constipation in Children. Pediatr Emerg Care 2018;34:154–159.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3034</TotalTime>
  <Words>2881</Words>
  <Application>Microsoft Macintosh PowerPoint</Application>
  <PresentationFormat>Widescreen</PresentationFormat>
  <Paragraphs>341</Paragraphs>
  <Slides>37</Slides>
  <Notes>32</Notes>
  <HiddenSlides>0</HiddenSlides>
  <MMClips>14</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Aptos</vt:lpstr>
      <vt:lpstr>Aptos Display</vt:lpstr>
      <vt:lpstr>Arial</vt:lpstr>
      <vt:lpstr>Calibri</vt:lpstr>
      <vt:lpstr>Wingdings</vt:lpstr>
      <vt:lpstr>Office Theme</vt:lpstr>
      <vt:lpstr>Pass The Pointer 2026</vt:lpstr>
      <vt:lpstr>Case 1</vt:lpstr>
      <vt:lpstr>17 yo w thick vaginal discharge</vt:lpstr>
      <vt:lpstr>Indications for POCUS in First Trimester</vt:lpstr>
      <vt:lpstr>Set Up For Success</vt:lpstr>
      <vt:lpstr>Transverse View</vt:lpstr>
      <vt:lpstr>Sagittal View</vt:lpstr>
      <vt:lpstr>Identifying First Trimester IUP</vt:lpstr>
      <vt:lpstr>Gestational Sac</vt:lpstr>
      <vt:lpstr>Yolk Sac</vt:lpstr>
      <vt:lpstr>Fetal Pole</vt:lpstr>
      <vt:lpstr>Crown Rump Length</vt:lpstr>
      <vt:lpstr>First Trimester Dating: Crown Rump Length</vt:lpstr>
      <vt:lpstr>Cardiac Activity </vt:lpstr>
      <vt:lpstr>PowerPoint Presentation</vt:lpstr>
      <vt:lpstr>Ectopic Pregnancy</vt:lpstr>
      <vt:lpstr>Case 2</vt:lpstr>
      <vt:lpstr>3-year-old with leg pain</vt:lpstr>
      <vt:lpstr>Indications for Soft Tissue POCUS</vt:lpstr>
      <vt:lpstr>Set Up For Success</vt:lpstr>
      <vt:lpstr>Normal Anatomy</vt:lpstr>
      <vt:lpstr>Cellulitis</vt:lpstr>
      <vt:lpstr>PowerPoint Presentation</vt:lpstr>
      <vt:lpstr>Abscess</vt:lpstr>
      <vt:lpstr>Foreign Body</vt:lpstr>
      <vt:lpstr>Case 4</vt:lpstr>
      <vt:lpstr>18 mo w fever</vt:lpstr>
      <vt:lpstr>15 yo w fever</vt:lpstr>
      <vt:lpstr>15 yo w fever</vt:lpstr>
      <vt:lpstr>Indications for Lung POCUS</vt:lpstr>
      <vt:lpstr>Set Up For Success</vt:lpstr>
      <vt:lpstr>Views</vt:lpstr>
      <vt:lpstr>Normal Anatomy</vt:lpstr>
      <vt:lpstr>Interstitial Fluid</vt:lpstr>
      <vt:lpstr>Consolidation</vt:lpstr>
      <vt:lpstr>Pleural Effusion</vt:lpstr>
      <vt:lpstr>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Wingerter, Rebecca MD</dc:creator>
  <cp:lastModifiedBy>Mancini, Nickolas</cp:lastModifiedBy>
  <cp:revision>31</cp:revision>
  <dcterms:created xsi:type="dcterms:W3CDTF">2026-05-07T18:39:35Z</dcterms:created>
  <dcterms:modified xsi:type="dcterms:W3CDTF">2026-06-08T20:53:21Z</dcterms:modified>
</cp:coreProperties>
</file>